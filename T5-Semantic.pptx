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324" r:id="rId2"/>
    <p:sldId id="266" r:id="rId3"/>
    <p:sldId id="285" r:id="rId4"/>
    <p:sldId id="284" r:id="rId5"/>
    <p:sldId id="325" r:id="rId6"/>
    <p:sldId id="326" r:id="rId7"/>
    <p:sldId id="323" r:id="rId8"/>
    <p:sldId id="319" r:id="rId9"/>
    <p:sldId id="329" r:id="rId10"/>
    <p:sldId id="355" r:id="rId11"/>
    <p:sldId id="356" r:id="rId12"/>
    <p:sldId id="328" r:id="rId13"/>
    <p:sldId id="311" r:id="rId14"/>
    <p:sldId id="313" r:id="rId15"/>
    <p:sldId id="330" r:id="rId16"/>
    <p:sldId id="331" r:id="rId17"/>
    <p:sldId id="332" r:id="rId18"/>
    <p:sldId id="333" r:id="rId19"/>
    <p:sldId id="314" r:id="rId20"/>
    <p:sldId id="315" r:id="rId21"/>
    <p:sldId id="316" r:id="rId22"/>
    <p:sldId id="338" r:id="rId23"/>
    <p:sldId id="337" r:id="rId24"/>
    <p:sldId id="305" r:id="rId25"/>
    <p:sldId id="347" r:id="rId26"/>
    <p:sldId id="348" r:id="rId27"/>
    <p:sldId id="358" r:id="rId28"/>
    <p:sldId id="350" r:id="rId29"/>
    <p:sldId id="359" r:id="rId30"/>
    <p:sldId id="351" r:id="rId31"/>
    <p:sldId id="360" r:id="rId32"/>
    <p:sldId id="352" r:id="rId33"/>
    <p:sldId id="321" r:id="rId34"/>
    <p:sldId id="365" r:id="rId35"/>
    <p:sldId id="366" r:id="rId36"/>
    <p:sldId id="367" r:id="rId37"/>
    <p:sldId id="368" r:id="rId38"/>
    <p:sldId id="353" r:id="rId39"/>
    <p:sldId id="349" r:id="rId40"/>
    <p:sldId id="354" r:id="rId41"/>
    <p:sldId id="357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5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5" autoAdjust="0"/>
    <p:restoredTop sz="84859" autoAdjust="0"/>
  </p:normalViewPr>
  <p:slideViewPr>
    <p:cSldViewPr>
      <p:cViewPr varScale="1">
        <p:scale>
          <a:sx n="81" d="100"/>
          <a:sy n="81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DDA9DCE-964C-4B9C-A49D-4F1F666F5F23}" type="datetimeFigureOut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620DE6E-F2AC-46DE-8521-943285D89B4F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938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מה המטרות:</a:t>
            </a:r>
            <a:br>
              <a:rPr lang="en-US" dirty="0"/>
            </a:br>
            <a:r>
              <a:rPr lang="he-IL" dirty="0"/>
              <a:t>1. יצירת טבלת הסמלים – להבין היכן הוכרז של שימוש במזהה.</a:t>
            </a:r>
          </a:p>
          <a:p>
            <a:pPr algn="r" rtl="1"/>
            <a:r>
              <a:rPr lang="he-IL" dirty="0"/>
              <a:t>2. בדיקה מבוססת הקשר \ תכונות סמנטיות – למשל בדיקת טיפוסים, שימוש לפני אתחול, </a:t>
            </a:r>
            <a:r>
              <a:rPr lang="en-US" dirty="0"/>
              <a:t>break</a:t>
            </a:r>
            <a:r>
              <a:rPr lang="he-IL" dirty="0"/>
              <a:t> בתוך </a:t>
            </a:r>
            <a:r>
              <a:rPr lang="en-US" dirty="0"/>
              <a:t>while</a:t>
            </a:r>
            <a:r>
              <a:rPr lang="he-IL" dirty="0"/>
              <a:t> </a:t>
            </a:r>
            <a:r>
              <a:rPr lang="he-IL" dirty="0" err="1"/>
              <a:t>וכו</a:t>
            </a:r>
            <a:r>
              <a:rPr lang="he-IL" dirty="0"/>
              <a:t>'.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היום נתמקד ב 2, שבוע הבא ב1.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51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he-IL" sz="1200" dirty="0"/>
              <a:t>- העץ עצמו נבנה בשלב הניתוח התחבירי, אך כעת בשלב הניתוח הסמנטי אנחנו יכולים לבצע סיורים בעץ.</a:t>
            </a:r>
          </a:p>
          <a:p>
            <a:pPr algn="r" rtl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0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57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לשים לב ש </a:t>
            </a:r>
            <a:r>
              <a:rPr lang="en-US" dirty="0"/>
              <a:t>L1 </a:t>
            </a:r>
            <a:r>
              <a:rPr lang="he-IL" dirty="0"/>
              <a:t> זה סימון עזר בשבילנו שאפשר להשתמש גם במבחן כדי להבדיל בין המשתנים מצד ימין ומצד שמאל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זו דוגמא שראיתם בהרצאה, יש כאן גם תכונות נורשות וגם נוצרות. </a:t>
            </a:r>
          </a:p>
          <a:p>
            <a:pPr algn="r" rtl="1"/>
            <a:r>
              <a:rPr lang="he-IL" dirty="0"/>
              <a:t>כשאנחנו מגדירים מספר משתנים חדשים בתוכנית ורושמים רק פעם אחת </a:t>
            </a:r>
            <a:r>
              <a:rPr lang="en-US" dirty="0"/>
              <a:t>float</a:t>
            </a:r>
            <a:r>
              <a:rPr lang="he-IL" dirty="0"/>
              <a:t>, המידע על סוג המשתנים למעשה מפעפע מהאחים והאבא.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64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0BC9F-AEC6-AEE0-DE7A-8D55264AD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9F82A-4219-E7EA-9C50-7486ECB58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0240F-6B2C-A7A6-7AE6-0C2DA2228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לשים לב ש </a:t>
            </a:r>
            <a:r>
              <a:rPr lang="en-US" dirty="0"/>
              <a:t>L1 </a:t>
            </a:r>
            <a:r>
              <a:rPr lang="he-IL" dirty="0"/>
              <a:t> זה סימון עזר בשבילנו שאפשר להשתמש גם במבחן כדי להבדיל בין המשתנים מצד ימין ומצד שמאל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זו דוגמא שראיתם בהרצאה, יש כאן גם תכונות נורשות וגם נוצרות. </a:t>
            </a:r>
          </a:p>
          <a:p>
            <a:pPr algn="r" rtl="1"/>
            <a:r>
              <a:rPr lang="he-IL" dirty="0"/>
              <a:t>כשאנחנו מגדירים מספר משתנים חדשים בתוכנית ורושמים רק פעם אחת </a:t>
            </a:r>
            <a:r>
              <a:rPr lang="en-US" dirty="0"/>
              <a:t>float</a:t>
            </a:r>
            <a:r>
              <a:rPr lang="he-IL" dirty="0"/>
              <a:t>, המידע על סוג המשתנים למעשה מפעפע מהאחים והאבא.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DDD60-A699-AB9B-E299-8AF8A765B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97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7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In “E → * E1” we set “E1.target = FALSE;” because</a:t>
            </a:r>
            <a:r>
              <a:rPr lang="en-US" sz="1200" baseline="0" dirty="0"/>
              <a:t> </a:t>
            </a:r>
            <a:r>
              <a:rPr lang="he-IL" sz="1200" dirty="0"/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"*(id+4) = 5" is perfectly valid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49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TO BE AST:</a:t>
            </a:r>
          </a:p>
          <a:p>
            <a:r>
              <a:rPr lang="en-US" dirty="0"/>
              <a:t># TO BINOP</a:t>
            </a:r>
          </a:p>
          <a:p>
            <a:r>
              <a:rPr lang="en-US" dirty="0"/>
              <a:t>#NUM FROM CHILD TO ELEMNET OF E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17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B3562-C198-4AB3-95DA-770B35D493F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79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פתרון על הלוח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79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טייפ תכונה נורשת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355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algn="r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59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CDB5C-272F-7E49-4023-2FDFF153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A5695-0F31-9354-E72E-8DCF3534A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5A9FE-1BE1-4A2D-12AE-DEB71AC98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algn="r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27593-05D0-4AA1-7C6C-669F24D1A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91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r"/>
            <a:r>
              <a:rPr lang="he-IL" dirty="0"/>
              <a:t>כנ"ל כמו השקף הקודם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24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81D0D-FD4B-2871-296C-910D89D3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83757-C674-DD78-A5AA-881D4001E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98768-D2A1-DB07-6A36-DAB062250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r"/>
            <a:r>
              <a:rPr lang="he-IL" dirty="0"/>
              <a:t>כנ"ל כמו השקף הקודם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058D1-48B6-9D88-6FDF-66EDEB1FD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03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168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לשים לב: יש פה רצף של גזירות אבל אין פה בשום שלב עץ!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80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0255-2A5A-379F-9413-00943CB1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823B5-48B9-39C2-1A83-7213F3F96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F2BF49-71F2-75F5-0C32-AFAE505F1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לשים לב: יש פה רצף של גזירות אבל אין פה בשום שלב עץ!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2E35F-2EFB-E1EA-857E-ECA9D2D04B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868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B5164-B512-AA10-FA05-2B046E0DC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EE068-EBCF-8122-399D-674476C03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F73F7-205D-D010-FBD3-70A738E88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לשים לב: יש פה רצף של גזירות אבל אין פה בשום שלב עץ!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746AF-F192-05DA-D7B8-339F78C876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13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446DE-53FD-494A-AE52-E28135094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67E68-57AC-AF88-FED5-2B15E73B7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832A4-80B1-AF9B-864F-3970390D7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לשים לב: יש פה רצף של גזירות אבל אין פה בשום שלב עץ!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F5CD2-7B05-1E5A-CE86-8F3FC96FD5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50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1317-16F2-411E-D196-D040ED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82565-EEF2-8755-69E8-B2E75101D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691CF-23C0-DC0C-6862-7604D57AC8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לשים לב: יש פה רצף של גזירות אבל אין פה בשום שלב עץ!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606E8-EF68-9F08-368B-B7325CD2D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392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932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20DE6E-F2AC-46DE-8521-943285D89B4F}" type="slidenum">
              <a:rPr lang="he-IL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09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A718C-B665-4F2F-8D1E-1C5925177225}" type="datetime1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10999-C751-4F52-8CC7-2187BA68C15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3E0539-19BD-4590-9812-8AF77E606903}" type="datetime1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A1B6C-F258-4E96-872A-C9884C64DF20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3505A6-C8AF-4D87-8374-7D5FADFC11D2}" type="datetime1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E4556E-4BE9-47F3-8D9F-8A74F512C1A7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663B7-0670-459B-A8BB-386C4391DE67}" type="datetime1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49702-9799-4483-807A-81285C65C9D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22327-C8A8-45BE-9846-88A8C3637F42}" type="datetime1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2DDA2-FAC6-4E86-8A68-126EC316D77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94D5C-B404-43D7-8803-9944D0FA256B}" type="datetime1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CE537-2E0C-4F79-B2EE-1D45AB6B68AF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0BC98-121C-413F-844B-A65D3BD2913F}" type="datetime1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B77CAA-57C8-4FDF-9851-89AACBC70B6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6AF37-D304-4554-A793-18F72C23F6DB}" type="datetime1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066205-CAE2-4A62-BF0D-EF94DA135AA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BF9EA6-E641-492A-8706-6A57B5479B7A}" type="datetime1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E3542-54E3-49C4-8320-81B798E06AC7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1D87D-89DE-4FFD-B101-568912EBBEC7}" type="datetime1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B4E79-878A-459A-A227-DC5C14ABA9E0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A3663-6455-47A7-97D9-E9F97AAEA05F}" type="datetime1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DB0EF-69CE-4AC3-8F49-F77540A4622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3727026-7902-45F2-9CF3-865316D2A70A}" type="datetime1">
              <a:rPr lang="en-US"/>
              <a:pPr>
                <a:defRPr/>
              </a:pPr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C259921C-BA12-49F0-BF8B-3928356C7F3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sz="8000" dirty="0"/>
              <a:t>ניתוח סמנטי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610999-C751-4F52-8CC7-2187BA68C154}" type="slidenum">
              <a:rPr lang="he-IL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dirty="0"/>
              <a:t>תזכורת מהתרגולים הקודמים</a:t>
            </a:r>
            <a:endParaRPr lang="en-US" dirty="0"/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357313"/>
            <a:ext cx="8229600" cy="4525962"/>
          </a:xfrm>
        </p:spPr>
        <p:txBody>
          <a:bodyPr/>
          <a:lstStyle/>
          <a:p>
            <a:pPr algn="r" rtl="1" eaLnBrk="1" hangingPunct="1"/>
            <a:r>
              <a:rPr lang="he-IL" sz="2800" dirty="0"/>
              <a:t>מבנה סכמתי של קומפיילר</a:t>
            </a:r>
          </a:p>
          <a:p>
            <a:pPr algn="r" rtl="1" eaLnBrk="1" hangingPunct="1">
              <a:buFontTx/>
              <a:buNone/>
            </a:pPr>
            <a:endParaRPr lang="he-IL" dirty="0"/>
          </a:p>
          <a:p>
            <a:pPr algn="r" rtl="1" eaLnBrk="1" hangingPunct="1"/>
            <a:endParaRPr lang="he-IL" dirty="0"/>
          </a:p>
          <a:p>
            <a:pPr algn="r" rtl="1" eaLnBrk="1" hangingPunct="1"/>
            <a:endParaRPr lang="he-IL" dirty="0"/>
          </a:p>
          <a:p>
            <a:pPr algn="r" rtl="1" eaLnBrk="1" hangingPunct="1"/>
            <a:r>
              <a:rPr lang="he-IL" dirty="0"/>
              <a:t>ניתוח לקסיקלי:</a:t>
            </a:r>
            <a:endParaRPr lang="en-US" dirty="0"/>
          </a:p>
          <a:p>
            <a:pPr lvl="1" algn="r" rtl="1" eaLnBrk="1" hangingPunct="1"/>
            <a:r>
              <a:rPr lang="he-IL" dirty="0"/>
              <a:t>אסימונים ולקסמות.</a:t>
            </a:r>
          </a:p>
          <a:p>
            <a:pPr lvl="1" algn="r" rtl="1" eaLnBrk="1" hangingPunct="1"/>
            <a:r>
              <a:rPr lang="he-IL" dirty="0"/>
              <a:t>מנתח לקסיקלי.</a:t>
            </a:r>
          </a:p>
          <a:p>
            <a:pPr lvl="1" algn="r" rtl="1" eaLnBrk="1" hangingPunct="1"/>
            <a:r>
              <a:rPr lang="he-IL" dirty="0"/>
              <a:t>כלי </a:t>
            </a:r>
            <a:r>
              <a:rPr lang="en-US" dirty="0" err="1"/>
              <a:t>Lex</a:t>
            </a:r>
            <a:r>
              <a:rPr lang="he-IL" dirty="0"/>
              <a:t>.</a:t>
            </a:r>
            <a:endParaRPr lang="en-US" dirty="0"/>
          </a:p>
          <a:p>
            <a:pPr lvl="2" algn="r" rtl="1" eaLnBrk="1" hangingPunct="1"/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6230193" y="1928813"/>
            <a:ext cx="1654175" cy="15716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342" name="Slide Number Placeholder 1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03D313A-10A2-4D9C-ADCF-9094383408FB}" type="slidenum">
              <a:rPr lang="he-IL" smtClean="0"/>
              <a:pPr/>
              <a:t>2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214438" y="2143125"/>
            <a:ext cx="6312743" cy="1217613"/>
            <a:chOff x="1214438" y="2143125"/>
            <a:chExt cx="6312743" cy="1217613"/>
          </a:xfrm>
        </p:grpSpPr>
        <p:sp>
          <p:nvSpPr>
            <p:cNvPr id="14341" name="TextBox 14"/>
            <p:cNvSpPr txBox="1">
              <a:spLocks noChangeArrowheads="1"/>
            </p:cNvSpPr>
            <p:nvPr/>
          </p:nvSpPr>
          <p:spPr bwMode="auto">
            <a:xfrm>
              <a:off x="5598368" y="2714625"/>
              <a:ext cx="1214438" cy="646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he-IL" dirty="0"/>
                <a:t>אסימונים </a:t>
              </a:r>
              <a:r>
                <a:rPr lang="en-US" dirty="0"/>
                <a:t>(tokens)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1214438" y="2143125"/>
              <a:ext cx="6312743" cy="1140118"/>
              <a:chOff x="1214438" y="2143125"/>
              <a:chExt cx="6312743" cy="1140118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1214438" y="2143125"/>
                <a:ext cx="6312743" cy="1092200"/>
                <a:chOff x="1214438" y="2143125"/>
                <a:chExt cx="6312743" cy="1092200"/>
              </a:xfrm>
            </p:grpSpPr>
            <p:sp>
              <p:nvSpPr>
                <p:cNvPr id="3077" name="Rectangle 9"/>
                <p:cNvSpPr>
                  <a:spLocks noChangeArrowheads="1"/>
                </p:cNvSpPr>
                <p:nvPr/>
              </p:nvSpPr>
              <p:spPr bwMode="auto">
                <a:xfrm>
                  <a:off x="6470962" y="2143125"/>
                  <a:ext cx="1056219" cy="1092200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he-IL" dirty="0"/>
                    <a:t>ניתוח</a:t>
                  </a:r>
                </a:p>
                <a:p>
                  <a:pPr algn="ctr">
                    <a:defRPr/>
                  </a:pPr>
                  <a:r>
                    <a:rPr lang="he-IL" dirty="0"/>
                    <a:t>לקסיקלי</a:t>
                  </a:r>
                  <a:endParaRPr lang="en-US" dirty="0"/>
                </a:p>
              </p:txBody>
            </p:sp>
            <p:sp>
              <p:nvSpPr>
                <p:cNvPr id="3078" name="Rectangle 10"/>
                <p:cNvSpPr>
                  <a:spLocks noChangeArrowheads="1"/>
                </p:cNvSpPr>
                <p:nvPr/>
              </p:nvSpPr>
              <p:spPr bwMode="auto">
                <a:xfrm>
                  <a:off x="4572000" y="2143125"/>
                  <a:ext cx="1056219" cy="1092200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he-IL" dirty="0"/>
                    <a:t>ניתוח</a:t>
                  </a:r>
                </a:p>
                <a:p>
                  <a:pPr algn="ctr">
                    <a:defRPr/>
                  </a:pPr>
                  <a:r>
                    <a:rPr lang="he-IL" dirty="0"/>
                    <a:t>תחבירי</a:t>
                  </a:r>
                  <a:endParaRPr lang="en-US" dirty="0"/>
                </a:p>
              </p:txBody>
            </p:sp>
            <p:sp>
              <p:nvSpPr>
                <p:cNvPr id="3079" name="Rectangle 11"/>
                <p:cNvSpPr>
                  <a:spLocks noChangeArrowheads="1"/>
                </p:cNvSpPr>
                <p:nvPr/>
              </p:nvSpPr>
              <p:spPr bwMode="auto">
                <a:xfrm>
                  <a:off x="2762318" y="2143125"/>
                  <a:ext cx="1056219" cy="1092200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he-IL" dirty="0"/>
                    <a:t>ניתוח</a:t>
                  </a:r>
                </a:p>
                <a:p>
                  <a:pPr algn="ctr">
                    <a:defRPr/>
                  </a:pPr>
                  <a:r>
                    <a:rPr lang="he-IL" dirty="0"/>
                    <a:t>סמנטי</a:t>
                  </a:r>
                  <a:endParaRPr lang="en-US" dirty="0"/>
                </a:p>
              </p:txBody>
            </p:sp>
            <p:sp>
              <p:nvSpPr>
                <p:cNvPr id="3080" name="Rectangle 12"/>
                <p:cNvSpPr>
                  <a:spLocks noChangeArrowheads="1"/>
                </p:cNvSpPr>
                <p:nvPr/>
              </p:nvSpPr>
              <p:spPr bwMode="auto">
                <a:xfrm>
                  <a:off x="1214438" y="2143125"/>
                  <a:ext cx="1056219" cy="1092200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dirty="0"/>
                    <a:t>backend</a:t>
                  </a:r>
                </a:p>
              </p:txBody>
            </p:sp>
            <p:sp>
              <p:nvSpPr>
                <p:cNvPr id="14355" name="Line 15"/>
                <p:cNvSpPr>
                  <a:spLocks noChangeShapeType="1"/>
                </p:cNvSpPr>
                <p:nvPr/>
              </p:nvSpPr>
              <p:spPr bwMode="auto">
                <a:xfrm flipH="1" flipV="1">
                  <a:off x="5628219" y="2636912"/>
                  <a:ext cx="842742" cy="30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56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3816984" y="2639978"/>
                  <a:ext cx="75501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57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2269106" y="2639978"/>
                  <a:ext cx="491661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TextBox 14"/>
              <p:cNvSpPr txBox="1">
                <a:spLocks noChangeArrowheads="1"/>
              </p:cNvSpPr>
              <p:nvPr/>
            </p:nvSpPr>
            <p:spPr bwMode="auto">
              <a:xfrm>
                <a:off x="3779912" y="2636912"/>
                <a:ext cx="720080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 rtl="1"/>
                <a:r>
                  <a:rPr lang="he-IL" dirty="0"/>
                  <a:t>עץ גזירה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dirty="0"/>
              <a:t>תזכורת מהתרגולים הקודמים</a:t>
            </a:r>
            <a:endParaRPr 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357313"/>
            <a:ext cx="8229600" cy="4525962"/>
          </a:xfrm>
        </p:spPr>
        <p:txBody>
          <a:bodyPr/>
          <a:lstStyle/>
          <a:p>
            <a:pPr algn="r" rtl="1" eaLnBrk="1" hangingPunct="1"/>
            <a:r>
              <a:rPr lang="he-IL" sz="2800" dirty="0"/>
              <a:t>מבנה סכמתי של קומפיילר</a:t>
            </a:r>
          </a:p>
          <a:p>
            <a:pPr algn="r" rtl="1" eaLnBrk="1" hangingPunct="1">
              <a:buFontTx/>
              <a:buNone/>
            </a:pPr>
            <a:endParaRPr lang="he-IL" dirty="0"/>
          </a:p>
          <a:p>
            <a:pPr algn="r" rtl="1" eaLnBrk="1" hangingPunct="1"/>
            <a:endParaRPr lang="he-IL" dirty="0"/>
          </a:p>
          <a:p>
            <a:pPr algn="r" rtl="1" eaLnBrk="1" hangingPunct="1"/>
            <a:endParaRPr lang="he-IL" dirty="0"/>
          </a:p>
          <a:p>
            <a:pPr algn="r" rtl="1" eaLnBrk="1" hangingPunct="1"/>
            <a:r>
              <a:rPr lang="he-IL" sz="2800" dirty="0"/>
              <a:t>ניתוח תחבירי:</a:t>
            </a:r>
          </a:p>
          <a:p>
            <a:pPr lvl="1" algn="r" rtl="1" eaLnBrk="1" hangingPunct="1"/>
            <a:r>
              <a:rPr lang="en-US" sz="2400" b="1" dirty="0"/>
              <a:t>Top Down</a:t>
            </a:r>
            <a:r>
              <a:rPr lang="he-IL" sz="2400" b="1" dirty="0"/>
              <a:t>: </a:t>
            </a:r>
            <a:r>
              <a:rPr lang="en-US" sz="2400" dirty="0"/>
              <a:t>LL(1)</a:t>
            </a:r>
          </a:p>
          <a:p>
            <a:pPr lvl="1" algn="r" rtl="1" eaLnBrk="1" hangingPunct="1"/>
            <a:r>
              <a:rPr lang="en-US" sz="2400" b="1" dirty="0"/>
              <a:t>Bottom up</a:t>
            </a:r>
            <a:r>
              <a:rPr lang="he-IL" sz="2400" dirty="0"/>
              <a:t>:</a:t>
            </a:r>
          </a:p>
          <a:p>
            <a:pPr lvl="2" algn="r" rtl="1" eaLnBrk="1" hangingPunct="1"/>
            <a:r>
              <a:rPr lang="en-US" dirty="0"/>
              <a:t>LR(0)</a:t>
            </a:r>
            <a:endParaRPr lang="he-IL" dirty="0"/>
          </a:p>
          <a:p>
            <a:pPr lvl="2" algn="r" rtl="1" eaLnBrk="1" hangingPunct="1"/>
            <a:r>
              <a:rPr lang="en-US" dirty="0"/>
              <a:t>SLR</a:t>
            </a:r>
            <a:endParaRPr lang="he-IL" dirty="0"/>
          </a:p>
          <a:p>
            <a:pPr lvl="2" algn="r" rtl="1" eaLnBrk="1" hangingPunct="1"/>
            <a:r>
              <a:rPr lang="en-US" dirty="0"/>
              <a:t>LR(1)</a:t>
            </a:r>
            <a:endParaRPr lang="he-IL" dirty="0"/>
          </a:p>
          <a:p>
            <a:pPr marL="914400" lvl="2" indent="0" algn="r" rtl="1" eaLnBrk="1" hangingPunct="1">
              <a:buNone/>
            </a:pPr>
            <a:endParaRPr lang="he-IL" dirty="0"/>
          </a:p>
          <a:p>
            <a:pPr lvl="2" algn="r" rtl="1" eaLnBrk="1" hangingPunct="1"/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4285977" y="1928813"/>
            <a:ext cx="1654175" cy="15716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66" name="Slide Number Placeholder 1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214438" y="2143125"/>
            <a:ext cx="6312743" cy="1217613"/>
            <a:chOff x="1214438" y="2143125"/>
            <a:chExt cx="6312743" cy="1217613"/>
          </a:xfrm>
        </p:grpSpPr>
        <p:sp>
          <p:nvSpPr>
            <p:cNvPr id="16" name="TextBox 14"/>
            <p:cNvSpPr txBox="1">
              <a:spLocks noChangeArrowheads="1"/>
            </p:cNvSpPr>
            <p:nvPr/>
          </p:nvSpPr>
          <p:spPr bwMode="auto">
            <a:xfrm>
              <a:off x="5598368" y="2714625"/>
              <a:ext cx="1214438" cy="646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he-IL" dirty="0"/>
                <a:t>אסימונים </a:t>
              </a:r>
              <a:r>
                <a:rPr lang="en-US" dirty="0"/>
                <a:t>(tokens)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1214438" y="2143125"/>
              <a:ext cx="6312743" cy="1140118"/>
              <a:chOff x="1214438" y="2143125"/>
              <a:chExt cx="6312743" cy="1140118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1214438" y="2143125"/>
                <a:ext cx="6312743" cy="1092200"/>
                <a:chOff x="1214438" y="2143125"/>
                <a:chExt cx="6312743" cy="1092200"/>
              </a:xfrm>
            </p:grpSpPr>
            <p:sp>
              <p:nvSpPr>
                <p:cNvPr id="20" name="Rectangle 9"/>
                <p:cNvSpPr>
                  <a:spLocks noChangeArrowheads="1"/>
                </p:cNvSpPr>
                <p:nvPr/>
              </p:nvSpPr>
              <p:spPr bwMode="auto">
                <a:xfrm>
                  <a:off x="6470962" y="2143125"/>
                  <a:ext cx="1056219" cy="1092200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he-IL" dirty="0"/>
                    <a:t>ניתוח</a:t>
                  </a:r>
                </a:p>
                <a:p>
                  <a:pPr algn="ctr">
                    <a:defRPr/>
                  </a:pPr>
                  <a:r>
                    <a:rPr lang="he-IL" dirty="0"/>
                    <a:t>לקסיקלי</a:t>
                  </a:r>
                  <a:endParaRPr lang="en-US" dirty="0"/>
                </a:p>
              </p:txBody>
            </p:sp>
            <p:sp>
              <p:nvSpPr>
                <p:cNvPr id="21" name="Rectangle 10"/>
                <p:cNvSpPr>
                  <a:spLocks noChangeArrowheads="1"/>
                </p:cNvSpPr>
                <p:nvPr/>
              </p:nvSpPr>
              <p:spPr bwMode="auto">
                <a:xfrm>
                  <a:off x="4572000" y="2143125"/>
                  <a:ext cx="1056219" cy="1092200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he-IL" dirty="0"/>
                    <a:t>ניתוח</a:t>
                  </a:r>
                </a:p>
                <a:p>
                  <a:pPr algn="ctr">
                    <a:defRPr/>
                  </a:pPr>
                  <a:r>
                    <a:rPr lang="he-IL" dirty="0"/>
                    <a:t>תחבירי</a:t>
                  </a:r>
                  <a:endParaRPr lang="en-US" dirty="0"/>
                </a:p>
              </p:txBody>
            </p:sp>
            <p:sp>
              <p:nvSpPr>
                <p:cNvPr id="22" name="Rectangle 11"/>
                <p:cNvSpPr>
                  <a:spLocks noChangeArrowheads="1"/>
                </p:cNvSpPr>
                <p:nvPr/>
              </p:nvSpPr>
              <p:spPr bwMode="auto">
                <a:xfrm>
                  <a:off x="2762318" y="2143125"/>
                  <a:ext cx="1056219" cy="1092200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he-IL" dirty="0"/>
                    <a:t>ניתוח</a:t>
                  </a:r>
                </a:p>
                <a:p>
                  <a:pPr algn="ctr">
                    <a:defRPr/>
                  </a:pPr>
                  <a:r>
                    <a:rPr lang="he-IL" dirty="0"/>
                    <a:t>סמנטי</a:t>
                  </a:r>
                  <a:endParaRPr lang="en-US" dirty="0"/>
                </a:p>
              </p:txBody>
            </p:sp>
            <p:sp>
              <p:nvSpPr>
                <p:cNvPr id="23" name="Rectangle 12"/>
                <p:cNvSpPr>
                  <a:spLocks noChangeArrowheads="1"/>
                </p:cNvSpPr>
                <p:nvPr/>
              </p:nvSpPr>
              <p:spPr bwMode="auto">
                <a:xfrm>
                  <a:off x="1214438" y="2143125"/>
                  <a:ext cx="1056219" cy="1092200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dirty="0"/>
                    <a:t>backend</a:t>
                  </a:r>
                </a:p>
              </p:txBody>
            </p:sp>
            <p:sp>
              <p:nvSpPr>
                <p:cNvPr id="24" name="Line 15"/>
                <p:cNvSpPr>
                  <a:spLocks noChangeShapeType="1"/>
                </p:cNvSpPr>
                <p:nvPr/>
              </p:nvSpPr>
              <p:spPr bwMode="auto">
                <a:xfrm flipH="1" flipV="1">
                  <a:off x="5628219" y="2636912"/>
                  <a:ext cx="842742" cy="30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3816984" y="2639978"/>
                  <a:ext cx="75501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2269106" y="2639978"/>
                  <a:ext cx="491661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" name="TextBox 18"/>
              <p:cNvSpPr txBox="1">
                <a:spLocks noChangeArrowheads="1"/>
              </p:cNvSpPr>
              <p:nvPr/>
            </p:nvSpPr>
            <p:spPr bwMode="auto">
              <a:xfrm>
                <a:off x="3779912" y="2636912"/>
                <a:ext cx="720080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 rtl="1"/>
                <a:r>
                  <a:rPr lang="he-IL" dirty="0"/>
                  <a:t>עץ גזירה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e-IL" dirty="0"/>
              <a:t>תזכורת מהתרגולים הקודמים</a:t>
            </a:r>
            <a:endParaRPr lang="en-US" dirty="0"/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357313"/>
            <a:ext cx="8229600" cy="4525962"/>
          </a:xfrm>
        </p:spPr>
        <p:txBody>
          <a:bodyPr/>
          <a:lstStyle/>
          <a:p>
            <a:pPr algn="r" rtl="1" eaLnBrk="1" hangingPunct="1"/>
            <a:r>
              <a:rPr lang="he-IL" sz="2800"/>
              <a:t>מבנה סכמתי של קומפיילר</a:t>
            </a:r>
          </a:p>
          <a:p>
            <a:pPr algn="r" rtl="1" eaLnBrk="1" hangingPunct="1">
              <a:buFontTx/>
              <a:buNone/>
            </a:pPr>
            <a:endParaRPr lang="he-IL"/>
          </a:p>
          <a:p>
            <a:pPr algn="r" rtl="1" eaLnBrk="1" hangingPunct="1"/>
            <a:endParaRPr lang="he-IL"/>
          </a:p>
          <a:p>
            <a:pPr algn="r" rtl="1" eaLnBrk="1" hangingPunct="1"/>
            <a:endParaRPr lang="he-IL"/>
          </a:p>
          <a:p>
            <a:pPr lvl="2" algn="r" rtl="1" eaLnBrk="1" hangingPunct="1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443292" y="1928813"/>
            <a:ext cx="1654175" cy="15716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90" name="Slide Number Placeholder 1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1713419-8FD9-4AB0-AED2-C9994DE21C4B}" type="slidenum">
              <a:rPr lang="he-IL" smtClean="0"/>
              <a:pPr/>
              <a:t>4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214438" y="2143125"/>
            <a:ext cx="6312743" cy="1217613"/>
            <a:chOff x="1214438" y="2143125"/>
            <a:chExt cx="6312743" cy="1217613"/>
          </a:xfrm>
        </p:grpSpPr>
        <p:sp>
          <p:nvSpPr>
            <p:cNvPr id="16" name="TextBox 14"/>
            <p:cNvSpPr txBox="1">
              <a:spLocks noChangeArrowheads="1"/>
            </p:cNvSpPr>
            <p:nvPr/>
          </p:nvSpPr>
          <p:spPr bwMode="auto">
            <a:xfrm>
              <a:off x="5598368" y="2714625"/>
              <a:ext cx="1214438" cy="646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he-IL" dirty="0"/>
                <a:t>אסימונים </a:t>
              </a:r>
              <a:r>
                <a:rPr lang="en-US" dirty="0"/>
                <a:t>(tokens)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1214438" y="2143125"/>
              <a:ext cx="6312743" cy="1140118"/>
              <a:chOff x="1214438" y="2143125"/>
              <a:chExt cx="6312743" cy="1140118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1214438" y="2143125"/>
                <a:ext cx="6312743" cy="1092200"/>
                <a:chOff x="1214438" y="2143125"/>
                <a:chExt cx="6312743" cy="1092200"/>
              </a:xfrm>
            </p:grpSpPr>
            <p:sp>
              <p:nvSpPr>
                <p:cNvPr id="20" name="Rectangle 9"/>
                <p:cNvSpPr>
                  <a:spLocks noChangeArrowheads="1"/>
                </p:cNvSpPr>
                <p:nvPr/>
              </p:nvSpPr>
              <p:spPr bwMode="auto">
                <a:xfrm>
                  <a:off x="6470962" y="2143125"/>
                  <a:ext cx="1056219" cy="1092200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he-IL" dirty="0"/>
                    <a:t>ניתוח</a:t>
                  </a:r>
                </a:p>
                <a:p>
                  <a:pPr algn="ctr">
                    <a:defRPr/>
                  </a:pPr>
                  <a:r>
                    <a:rPr lang="he-IL" dirty="0"/>
                    <a:t>לקסיקלי</a:t>
                  </a:r>
                  <a:endParaRPr lang="en-US" dirty="0"/>
                </a:p>
              </p:txBody>
            </p:sp>
            <p:sp>
              <p:nvSpPr>
                <p:cNvPr id="21" name="Rectangle 10"/>
                <p:cNvSpPr>
                  <a:spLocks noChangeArrowheads="1"/>
                </p:cNvSpPr>
                <p:nvPr/>
              </p:nvSpPr>
              <p:spPr bwMode="auto">
                <a:xfrm>
                  <a:off x="4572000" y="2143125"/>
                  <a:ext cx="1056219" cy="1092200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he-IL" dirty="0"/>
                    <a:t>ניתוח</a:t>
                  </a:r>
                </a:p>
                <a:p>
                  <a:pPr algn="ctr">
                    <a:defRPr/>
                  </a:pPr>
                  <a:r>
                    <a:rPr lang="he-IL" dirty="0"/>
                    <a:t>תחבירי</a:t>
                  </a:r>
                  <a:endParaRPr lang="en-US" dirty="0"/>
                </a:p>
              </p:txBody>
            </p:sp>
            <p:sp>
              <p:nvSpPr>
                <p:cNvPr id="22" name="Rectangle 11"/>
                <p:cNvSpPr>
                  <a:spLocks noChangeArrowheads="1"/>
                </p:cNvSpPr>
                <p:nvPr/>
              </p:nvSpPr>
              <p:spPr bwMode="auto">
                <a:xfrm>
                  <a:off x="2762318" y="2143125"/>
                  <a:ext cx="1056219" cy="1092200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he-IL" dirty="0"/>
                    <a:t>ניתוח</a:t>
                  </a:r>
                </a:p>
                <a:p>
                  <a:pPr algn="ctr">
                    <a:defRPr/>
                  </a:pPr>
                  <a:r>
                    <a:rPr lang="he-IL" dirty="0"/>
                    <a:t>סמנטי</a:t>
                  </a:r>
                  <a:endParaRPr lang="en-US" dirty="0"/>
                </a:p>
              </p:txBody>
            </p:sp>
            <p:sp>
              <p:nvSpPr>
                <p:cNvPr id="23" name="Rectangle 12"/>
                <p:cNvSpPr>
                  <a:spLocks noChangeArrowheads="1"/>
                </p:cNvSpPr>
                <p:nvPr/>
              </p:nvSpPr>
              <p:spPr bwMode="auto">
                <a:xfrm>
                  <a:off x="1214438" y="2143125"/>
                  <a:ext cx="1056219" cy="1092200"/>
                </a:xfrm>
                <a:prstGeom prst="rect">
                  <a:avLst/>
                </a:prstGeom>
                <a:ln>
                  <a:headEnd/>
                  <a:tailEnd/>
                </a:ln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dirty="0"/>
                    <a:t>backend</a:t>
                  </a:r>
                </a:p>
              </p:txBody>
            </p:sp>
            <p:sp>
              <p:nvSpPr>
                <p:cNvPr id="24" name="Line 15"/>
                <p:cNvSpPr>
                  <a:spLocks noChangeShapeType="1"/>
                </p:cNvSpPr>
                <p:nvPr/>
              </p:nvSpPr>
              <p:spPr bwMode="auto">
                <a:xfrm flipH="1" flipV="1">
                  <a:off x="5628219" y="2636912"/>
                  <a:ext cx="842742" cy="30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3816984" y="2639978"/>
                  <a:ext cx="755015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2269106" y="2639978"/>
                  <a:ext cx="491661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" name="TextBox 18"/>
              <p:cNvSpPr txBox="1">
                <a:spLocks noChangeArrowheads="1"/>
              </p:cNvSpPr>
              <p:nvPr/>
            </p:nvSpPr>
            <p:spPr bwMode="auto">
              <a:xfrm>
                <a:off x="3779912" y="2636912"/>
                <a:ext cx="720080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 rtl="1"/>
                <a:r>
                  <a:rPr lang="he-IL" dirty="0"/>
                  <a:t>עץ גזירה</a:t>
                </a:r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הגדרה מונחית תחביר - דוגמה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638" y="1345820"/>
            <a:ext cx="8229600" cy="4525963"/>
          </a:xfrm>
        </p:spPr>
        <p:txBody>
          <a:bodyPr/>
          <a:lstStyle/>
          <a:p>
            <a:pPr marL="0" indent="0" algn="r" rtl="1">
              <a:buNone/>
            </a:pPr>
            <a:r>
              <a:rPr lang="he-IL" sz="2800" u="sng" dirty="0"/>
              <a:t>המטרה</a:t>
            </a:r>
            <a:r>
              <a:rPr lang="he-IL" sz="2800" dirty="0"/>
              <a:t>: </a:t>
            </a:r>
            <a:r>
              <a:rPr lang="he-IL" sz="2400" dirty="0"/>
              <a:t>חישוב (והדפסת) ערך של ביטוי אריטמטי</a:t>
            </a:r>
            <a:endParaRPr lang="he-IL" sz="2800" dirty="0"/>
          </a:p>
          <a:p>
            <a:pPr marL="0" indent="0" algn="r" rtl="1">
              <a:buNone/>
            </a:pPr>
            <a:r>
              <a:rPr lang="he-IL" sz="2800" u="sng" dirty="0"/>
              <a:t>תכונות</a:t>
            </a:r>
            <a:r>
              <a:rPr lang="he-IL" sz="2800" dirty="0"/>
              <a:t>: </a:t>
            </a:r>
            <a:r>
              <a:rPr lang="he-IL" sz="2400" dirty="0"/>
              <a:t>נגדיר תכונה מטיפוס </a:t>
            </a:r>
            <a:r>
              <a:rPr lang="en-US" sz="2400" dirty="0" err="1"/>
              <a:t>int</a:t>
            </a:r>
            <a:r>
              <a:rPr lang="he-IL" sz="2400" dirty="0"/>
              <a:t> בשם </a:t>
            </a:r>
            <a:r>
              <a:rPr lang="en-US" sz="2400" dirty="0"/>
              <a:t>VAL</a:t>
            </a:r>
            <a:r>
              <a:rPr lang="he-IL" sz="2400" dirty="0"/>
              <a:t> </a:t>
            </a:r>
            <a:br>
              <a:rPr lang="en-US" sz="2400" dirty="0"/>
            </a:br>
            <a:r>
              <a:rPr lang="en-US" sz="2400" dirty="0"/>
              <a:t>                </a:t>
            </a:r>
            <a:r>
              <a:rPr lang="he-IL" sz="2400" dirty="0"/>
              <a:t>למשתנה גזירה </a:t>
            </a:r>
            <a:r>
              <a:rPr lang="en-US" sz="2400" dirty="0"/>
              <a:t>E</a:t>
            </a:r>
            <a:r>
              <a:rPr lang="he-IL" sz="2400" dirty="0"/>
              <a:t> ולטרמינל </a:t>
            </a:r>
            <a:r>
              <a:rPr lang="en-US" sz="2400" dirty="0"/>
              <a:t>num</a:t>
            </a:r>
            <a:r>
              <a:rPr lang="he-IL" sz="2400" dirty="0"/>
              <a:t>.</a:t>
            </a:r>
            <a:br>
              <a:rPr lang="en-US" sz="2400" dirty="0"/>
            </a:br>
            <a:r>
              <a:rPr lang="he-IL" sz="2000" dirty="0"/>
              <a:t>המנתח הלקסיקלי יספק את ערך </a:t>
            </a:r>
            <a:r>
              <a:rPr lang="en-US" sz="2000" dirty="0"/>
              <a:t>VAL</a:t>
            </a:r>
            <a:r>
              <a:rPr lang="he-IL" sz="2000" dirty="0"/>
              <a:t> עבור כל מופע של הטרמינל </a:t>
            </a:r>
            <a:r>
              <a:rPr lang="en-US" sz="2000" dirty="0" err="1"/>
              <a:t>num</a:t>
            </a:r>
            <a:r>
              <a:rPr lang="he-IL" sz="2000" dirty="0"/>
              <a:t>.</a:t>
            </a:r>
          </a:p>
          <a:p>
            <a:pPr marL="0" indent="0" algn="r" rtl="1">
              <a:buNone/>
            </a:pPr>
            <a:r>
              <a:rPr lang="he-IL" sz="2000" dirty="0"/>
              <a:t>נבצע את חישוב התכונות בטיול על העץ.</a:t>
            </a:r>
          </a:p>
          <a:p>
            <a:pPr algn="r" rtl="1">
              <a:buFontTx/>
              <a:buChar char="-"/>
            </a:pPr>
            <a:r>
              <a:rPr lang="he-IL" sz="2000" dirty="0"/>
              <a:t>אופן הסיור יקבע על פי חוקיות פונקציית ה </a:t>
            </a:r>
            <a:r>
              <a:rPr lang="en-US" sz="2000" dirty="0"/>
              <a:t>visitor</a:t>
            </a:r>
            <a:r>
              <a:rPr lang="he-IL" sz="2000" dirty="0"/>
              <a:t> שנגדיר.</a:t>
            </a:r>
          </a:p>
          <a:p>
            <a:pPr algn="r" rtl="1">
              <a:buFontTx/>
              <a:buChar char="-"/>
            </a:pPr>
            <a:r>
              <a:rPr lang="he-IL" sz="2000" dirty="0"/>
              <a:t>סדר הסיור צריך להתאים לאופי התכונה שמעבירים מצומת לצומת.</a:t>
            </a:r>
          </a:p>
          <a:p>
            <a:pPr marL="0" indent="0" algn="r" rtl="1">
              <a:buNone/>
            </a:pPr>
            <a:r>
              <a:rPr lang="he-IL" sz="2800" u="sng" dirty="0"/>
              <a:t>הגדרות עבור התחביר</a:t>
            </a:r>
            <a:r>
              <a:rPr lang="he-IL" sz="2800" dirty="0"/>
              <a:t>:</a:t>
            </a:r>
          </a:p>
          <a:p>
            <a:pPr marL="0" indent="0" algn="r" rtl="1">
              <a:buNone/>
            </a:pPr>
            <a:endParaRPr lang="en-US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4549525"/>
                  </p:ext>
                </p:extLst>
              </p:nvPr>
            </p:nvGraphicFramePr>
            <p:xfrm>
              <a:off x="1763688" y="4867954"/>
              <a:ext cx="6312024" cy="16993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10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1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2963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24846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/>
                            <a:t>כלל הגזירה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/>
                            <a:t>כלל סמנטי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4846"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he-IL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𝐸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𝑝𝑟𝑖𝑛𝑡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𝑉𝐴𝐿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4846"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(2)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he-IL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𝑉𝐴𝐿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𝑉𝐴𝐿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𝑉𝐴𝐿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4846"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(3)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he-IL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→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𝒏𝒖𝒎</m:t>
                              </m:r>
                            </m:oMath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he-IL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𝑉𝐴𝐿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𝑛𝑢𝑚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𝑉𝐴𝐿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4549525"/>
                  </p:ext>
                </p:extLst>
              </p:nvPr>
            </p:nvGraphicFramePr>
            <p:xfrm>
              <a:off x="1763688" y="4867954"/>
              <a:ext cx="6312024" cy="16993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10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13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2963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24846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/>
                            <a:t>כלל הגזירה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/>
                            <a:t>כלל סמנטי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4846"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(1)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9211" t="-108571" r="-144737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89927" t="-108571" r="-733" b="-2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4846"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(2)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9211" t="-208571" r="-144737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89927" t="-208571" r="-733" b="-1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4846">
                    <a:tc>
                      <a:txBody>
                        <a:bodyPr/>
                        <a:lstStyle/>
                        <a:p>
                          <a:r>
                            <a:rPr lang="he-IL" dirty="0"/>
                            <a:t>(3)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9211" t="-308571" r="-144737" b="-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89927" t="-308571" r="-733" b="-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26395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עץ סינטקס עם תכונות</a:t>
            </a:r>
            <a:r>
              <a:rPr lang="en-US" dirty="0"/>
              <a:t> </a:t>
            </a:r>
            <a:r>
              <a:rPr lang="he-IL" dirty="0"/>
              <a:t>(</a:t>
            </a:r>
            <a:r>
              <a:rPr lang="en-US" dirty="0"/>
              <a:t>Annotated</a:t>
            </a:r>
            <a:r>
              <a:rPr lang="he-IL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he-IL" u="sng" dirty="0"/>
              <a:t>העץ המורחב המתקבל עבור </a:t>
            </a:r>
            <a:r>
              <a:rPr lang="en-US" u="sng" dirty="0"/>
              <a:t>w=20+30</a:t>
            </a:r>
            <a:r>
              <a:rPr lang="he-IL" dirty="0"/>
              <a:t>:</a:t>
            </a:r>
            <a:endParaRPr lang="en-US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2583174" y="2622211"/>
            <a:ext cx="3930099" cy="3154355"/>
            <a:chOff x="2583174" y="2622211"/>
            <a:chExt cx="3930099" cy="31543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4465288" y="2622211"/>
                  <a:ext cx="375103" cy="369332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𝑆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65288" y="2622211"/>
                  <a:ext cx="375103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451791" y="3550552"/>
                  <a:ext cx="402097" cy="369332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51791" y="3550552"/>
                  <a:ext cx="402097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4441884" y="5407234"/>
                  <a:ext cx="421910" cy="369332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latin typeface="Cambria Math"/>
                          </a:rPr>
                          <m:t>+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1884" y="5407234"/>
                  <a:ext cx="421910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2583174" y="5407234"/>
                  <a:ext cx="761747" cy="369332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/>
                          </a:rPr>
                          <m:t>𝒏𝒖𝒎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3174" y="5407234"/>
                  <a:ext cx="761747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5751526" y="5407234"/>
                  <a:ext cx="761747" cy="369332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/>
                          </a:rPr>
                          <m:t>𝒏𝒖𝒎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1526" y="5407234"/>
                  <a:ext cx="76174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762998" y="4478893"/>
                  <a:ext cx="402097" cy="369332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2998" y="4478893"/>
                  <a:ext cx="402097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5931350" y="4478893"/>
                  <a:ext cx="402097" cy="369332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1350" y="4478893"/>
                  <a:ext cx="402097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/>
            <p:cNvCxnSpPr>
              <a:stCxn id="6" idx="2"/>
              <a:endCxn id="7" idx="0"/>
            </p:cNvCxnSpPr>
            <p:nvPr/>
          </p:nvCxnSpPr>
          <p:spPr>
            <a:xfrm>
              <a:off x="4652840" y="2991543"/>
              <a:ext cx="0" cy="5590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7" idx="2"/>
              <a:endCxn id="11" idx="0"/>
            </p:cNvCxnSpPr>
            <p:nvPr/>
          </p:nvCxnSpPr>
          <p:spPr>
            <a:xfrm flipH="1">
              <a:off x="2964047" y="3919884"/>
              <a:ext cx="1688793" cy="5590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7" idx="2"/>
              <a:endCxn id="12" idx="0"/>
            </p:cNvCxnSpPr>
            <p:nvPr/>
          </p:nvCxnSpPr>
          <p:spPr>
            <a:xfrm>
              <a:off x="4652840" y="3919884"/>
              <a:ext cx="1479559" cy="5590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2" idx="2"/>
              <a:endCxn id="10" idx="0"/>
            </p:cNvCxnSpPr>
            <p:nvPr/>
          </p:nvCxnSpPr>
          <p:spPr>
            <a:xfrm>
              <a:off x="6132399" y="4848225"/>
              <a:ext cx="1" cy="5590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8" idx="0"/>
              <a:endCxn id="7" idx="2"/>
            </p:cNvCxnSpPr>
            <p:nvPr/>
          </p:nvCxnSpPr>
          <p:spPr>
            <a:xfrm flipV="1">
              <a:off x="4652839" y="3919884"/>
              <a:ext cx="1" cy="14873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9" idx="0"/>
              <a:endCxn id="11" idx="2"/>
            </p:cNvCxnSpPr>
            <p:nvPr/>
          </p:nvCxnSpPr>
          <p:spPr>
            <a:xfrm flipH="1" flipV="1">
              <a:off x="2964047" y="4848225"/>
              <a:ext cx="1" cy="5590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160956" y="5732263"/>
                <a:ext cx="1824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𝒏𝒖𝒎</m:t>
                      </m:r>
                      <m:r>
                        <a:rPr lang="en-US" b="1" i="1" smtClean="0">
                          <a:latin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</a:rPr>
                        <m:t>𝑉𝐴𝐿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20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956" y="5732263"/>
                <a:ext cx="1824474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107518" y="4851204"/>
                <a:ext cx="14621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𝐸</m:t>
                      </m:r>
                      <m:r>
                        <a:rPr lang="en-US" b="1" i="1" smtClean="0">
                          <a:latin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</a:rPr>
                        <m:t>𝑉𝐴𝐿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20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518" y="4851204"/>
                <a:ext cx="1462195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356024" y="5732263"/>
                <a:ext cx="18244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𝒏𝒖𝒎</m:t>
                      </m:r>
                      <m:r>
                        <a:rPr lang="en-US" b="1" i="1" smtClean="0">
                          <a:latin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</a:rPr>
                        <m:t>𝑉𝐴𝐿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30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024" y="5732263"/>
                <a:ext cx="1824474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302586" y="4851204"/>
                <a:ext cx="14621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𝐸</m:t>
                      </m:r>
                      <m:r>
                        <a:rPr lang="en-US" b="1" i="1" smtClean="0">
                          <a:latin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</a:rPr>
                        <m:t>𝑉𝐴𝐿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30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586" y="4851204"/>
                <a:ext cx="1462195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051078" y="3709622"/>
                <a:ext cx="14621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𝐸</m:t>
                      </m:r>
                      <m:r>
                        <a:rPr lang="en-US" b="1" i="1" smtClean="0">
                          <a:latin typeface="Cambria Math"/>
                        </a:rPr>
                        <m:t>.</m:t>
                      </m:r>
                      <m:r>
                        <a:rPr lang="en-US" b="0" i="1" smtClean="0">
                          <a:latin typeface="Cambria Math"/>
                        </a:rPr>
                        <m:t>𝑉𝐴𝐿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50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078" y="3709622"/>
                <a:ext cx="1462195" cy="3693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Arrow 4"/>
          <p:cNvSpPr/>
          <p:nvPr/>
        </p:nvSpPr>
        <p:spPr>
          <a:xfrm>
            <a:off x="3566737" y="2638999"/>
            <a:ext cx="720080" cy="335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/>
          <p:cNvSpPr/>
          <p:nvPr/>
        </p:nvSpPr>
        <p:spPr>
          <a:xfrm>
            <a:off x="3566737" y="3584128"/>
            <a:ext cx="720080" cy="335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>
            <a:off x="1883927" y="4429667"/>
            <a:ext cx="720080" cy="335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/>
          <p:cNvSpPr/>
          <p:nvPr/>
        </p:nvSpPr>
        <p:spPr>
          <a:xfrm>
            <a:off x="1779268" y="5401871"/>
            <a:ext cx="720080" cy="335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>
            <a:off x="4973655" y="5440810"/>
            <a:ext cx="720080" cy="335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5048767" y="4512469"/>
            <a:ext cx="720080" cy="335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7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2" grpId="0"/>
      <p:bldP spid="33" grpId="0"/>
      <p:bldP spid="38" grpId="0"/>
      <p:bldP spid="5" grpId="0" animBg="1"/>
      <p:bldP spid="5" grpId="1" animBg="1"/>
      <p:bldP spid="5" grpId="2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7" grpId="0" animBg="1"/>
      <p:bldP spid="27" grpId="1" animBg="1"/>
      <p:bldP spid="27" grpId="2" animBg="1"/>
      <p:bldP spid="27" grpId="3" animBg="1"/>
      <p:bldP spid="30" grpId="0" animBg="1"/>
      <p:bldP spid="30" grpId="1" animBg="1"/>
      <p:bldP spid="31" grpId="0" animBg="1"/>
      <p:bldP spid="31" grpId="1" animBg="1"/>
      <p:bldP spid="35" grpId="0" animBg="1"/>
      <p:bldP spid="35" grpId="1" animBg="1"/>
      <p:bldP spid="35" grpId="2" animBg="1"/>
      <p:bldP spid="35" grpId="3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סוגי תכונות סמנטיות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b="1" dirty="0">
                <a:solidFill>
                  <a:srgbClr val="0070C0"/>
                </a:solidFill>
              </a:rPr>
              <a:t>תכונות נוצרות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he-IL" b="1" dirty="0">
                <a:solidFill>
                  <a:srgbClr val="0070C0"/>
                </a:solidFill>
              </a:rPr>
              <a:t>(</a:t>
            </a:r>
            <a:r>
              <a:rPr lang="en-US" b="1" dirty="0">
                <a:solidFill>
                  <a:srgbClr val="0070C0"/>
                </a:solidFill>
              </a:rPr>
              <a:t>Synthesized Attribute</a:t>
            </a:r>
            <a:r>
              <a:rPr lang="he-IL" b="1" dirty="0">
                <a:solidFill>
                  <a:srgbClr val="0070C0"/>
                </a:solidFill>
              </a:rPr>
              <a:t>)</a:t>
            </a:r>
          </a:p>
          <a:p>
            <a:pPr lvl="1" algn="r" rtl="1"/>
            <a:r>
              <a:rPr lang="he-IL" dirty="0"/>
              <a:t>התכונה של משתנה </a:t>
            </a:r>
            <a:r>
              <a:rPr lang="en-US" dirty="0"/>
              <a:t>V</a:t>
            </a:r>
            <a:r>
              <a:rPr lang="he-IL" dirty="0"/>
              <a:t> תלויה אך ורק בערכי התכונות של </a:t>
            </a:r>
            <a:r>
              <a:rPr lang="he-IL" b="1" dirty="0"/>
              <a:t>בנים</a:t>
            </a:r>
            <a:r>
              <a:rPr lang="he-IL" dirty="0"/>
              <a:t> של </a:t>
            </a:r>
            <a:r>
              <a:rPr lang="en-US" dirty="0"/>
              <a:t>V</a:t>
            </a:r>
            <a:r>
              <a:rPr lang="he-IL" dirty="0"/>
              <a:t> בעץ הגזירה </a:t>
            </a:r>
          </a:p>
          <a:p>
            <a:pPr algn="r" rtl="1"/>
            <a:endParaRPr lang="he-IL" dirty="0"/>
          </a:p>
          <a:p>
            <a:pPr algn="r" rtl="1"/>
            <a:r>
              <a:rPr lang="he-IL" b="1" dirty="0">
                <a:solidFill>
                  <a:srgbClr val="0070C0"/>
                </a:solidFill>
              </a:rPr>
              <a:t>תכונות נורשות(</a:t>
            </a:r>
            <a:r>
              <a:rPr lang="en-US" b="1" dirty="0">
                <a:solidFill>
                  <a:srgbClr val="0070C0"/>
                </a:solidFill>
              </a:rPr>
              <a:t>Inherited Attribute</a:t>
            </a:r>
            <a:r>
              <a:rPr lang="he-IL" b="1" dirty="0">
                <a:solidFill>
                  <a:srgbClr val="0070C0"/>
                </a:solidFill>
              </a:rPr>
              <a:t>)</a:t>
            </a:r>
          </a:p>
          <a:p>
            <a:pPr lvl="1" algn="r" rtl="1"/>
            <a:r>
              <a:rPr lang="he-IL" dirty="0"/>
              <a:t>התכונה של משתנה </a:t>
            </a:r>
            <a:r>
              <a:rPr lang="en-US" dirty="0"/>
              <a:t>V</a:t>
            </a:r>
            <a:r>
              <a:rPr lang="he-IL" dirty="0"/>
              <a:t> תלויה אך ורק בערכי התכונות של </a:t>
            </a:r>
            <a:r>
              <a:rPr lang="he-IL" b="1" dirty="0"/>
              <a:t>האחים</a:t>
            </a:r>
            <a:r>
              <a:rPr lang="he-IL" dirty="0"/>
              <a:t> או </a:t>
            </a:r>
            <a:r>
              <a:rPr lang="he-IL" b="1" dirty="0"/>
              <a:t>האב</a:t>
            </a:r>
            <a:r>
              <a:rPr lang="he-IL" dirty="0"/>
              <a:t> של </a:t>
            </a:r>
            <a:r>
              <a:rPr lang="en-US" dirty="0"/>
              <a:t>V</a:t>
            </a:r>
            <a:r>
              <a:rPr lang="he-IL" dirty="0"/>
              <a:t> בעץ הגזירה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86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85860"/>
            <a:ext cx="9144000" cy="5338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he-IL" dirty="0"/>
              <a:t>תזכורת מההרצאה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eaLnBrk="1" hangingPunct="1"/>
            <a:r>
              <a:rPr lang="he-IL" dirty="0"/>
              <a:t>תכונות נוצרות - דוגמה</a:t>
            </a:r>
            <a:endParaRPr lang="en-US" dirty="0"/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F2A91F4-7348-43DA-B227-A801910F2BCB}" type="slidenum">
              <a:rPr lang="he-IL" smtClean="0"/>
              <a:pPr/>
              <a:t>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1D46C0-E3C0-E441-7324-C5E568D67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A60D65-9DE4-1597-ABCD-A680D6F34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876218"/>
            <a:ext cx="3486637" cy="23815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DFFE6D3-199F-9149-76B6-B8F072DF8B84}"/>
              </a:ext>
            </a:extLst>
          </p:cNvPr>
          <p:cNvSpPr/>
          <p:nvPr/>
        </p:nvSpPr>
        <p:spPr>
          <a:xfrm>
            <a:off x="755576" y="3570176"/>
            <a:ext cx="3486637" cy="722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253DEC-C97F-6FBD-1D27-65D37A980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1988840"/>
            <a:ext cx="2257740" cy="241016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0D7C318-904C-4AD9-99B9-5286790E0761}"/>
              </a:ext>
            </a:extLst>
          </p:cNvPr>
          <p:cNvSpPr txBox="1"/>
          <p:nvPr/>
        </p:nvSpPr>
        <p:spPr>
          <a:xfrm>
            <a:off x="6553200" y="1688782"/>
            <a:ext cx="188360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/>
              <a:t>Visit D : accept(child)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44F87A-5805-4A09-6B05-49540E048A7D}"/>
              </a:ext>
            </a:extLst>
          </p:cNvPr>
          <p:cNvSpPr/>
          <p:nvPr/>
        </p:nvSpPr>
        <p:spPr>
          <a:xfrm>
            <a:off x="5580112" y="1717696"/>
            <a:ext cx="792088" cy="852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0A94C6-FA23-B55F-2DE7-C3EE0A533EDE}"/>
              </a:ext>
            </a:extLst>
          </p:cNvPr>
          <p:cNvSpPr/>
          <p:nvPr/>
        </p:nvSpPr>
        <p:spPr>
          <a:xfrm>
            <a:off x="7345239" y="3570176"/>
            <a:ext cx="792088" cy="852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2738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FD6F-D05D-80F8-A410-9DE0B870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3777C740-A5BE-CC80-CCB6-C23C8FAB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eaLnBrk="1" hangingPunct="1"/>
            <a:r>
              <a:rPr lang="he-IL" dirty="0"/>
              <a:t>תכונות נוצרות - דוגמה</a:t>
            </a:r>
            <a:endParaRPr lang="en-US" dirty="0"/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1AC6FD13-671B-9E38-B489-9DF18897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F2A91F4-7348-43DA-B227-A801910F2BCB}" type="slidenum">
              <a:rPr lang="he-IL" smtClean="0"/>
              <a:pPr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D1B026-B9F0-0CE0-EEE1-88C7377FE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FAB4EC-92B5-84CD-CE9E-0D9DDC29B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876218"/>
            <a:ext cx="3486637" cy="23815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6D756E-6C2F-F8AC-F1E1-835BA3B18486}"/>
              </a:ext>
            </a:extLst>
          </p:cNvPr>
          <p:cNvSpPr/>
          <p:nvPr/>
        </p:nvSpPr>
        <p:spPr>
          <a:xfrm>
            <a:off x="755576" y="3570176"/>
            <a:ext cx="3486637" cy="722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5B0808-73C9-DD76-DAB7-45A8DFDDC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1988840"/>
            <a:ext cx="2257740" cy="241016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2E3BF59-3A47-D8AB-237E-6E49EF431D1D}"/>
              </a:ext>
            </a:extLst>
          </p:cNvPr>
          <p:cNvSpPr/>
          <p:nvPr/>
        </p:nvSpPr>
        <p:spPr>
          <a:xfrm>
            <a:off x="5580112" y="1717696"/>
            <a:ext cx="792088" cy="852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6E1275-EBAC-D50B-4E69-19D93AE9CE0F}"/>
              </a:ext>
            </a:extLst>
          </p:cNvPr>
          <p:cNvSpPr/>
          <p:nvPr/>
        </p:nvSpPr>
        <p:spPr>
          <a:xfrm>
            <a:off x="7345239" y="3570176"/>
            <a:ext cx="792088" cy="852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0BECB2-E18D-5205-BAEB-435FB7A0F6F5}"/>
              </a:ext>
            </a:extLst>
          </p:cNvPr>
          <p:cNvSpPr txBox="1"/>
          <p:nvPr/>
        </p:nvSpPr>
        <p:spPr>
          <a:xfrm>
            <a:off x="6708982" y="3400363"/>
            <a:ext cx="1644413" cy="5232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/>
              <a:t>Visit T : </a:t>
            </a:r>
          </a:p>
          <a:p>
            <a:pPr>
              <a:defRPr/>
            </a:pPr>
            <a:r>
              <a:rPr lang="en-US" sz="1400" dirty="0" err="1"/>
              <a:t>T.type</a:t>
            </a:r>
            <a:r>
              <a:rPr lang="en-US" sz="1400" dirty="0"/>
              <a:t> =  </a:t>
            </a:r>
            <a:r>
              <a:rPr lang="en-US" sz="1400" dirty="0" err="1"/>
              <a:t>child.tpye</a:t>
            </a:r>
            <a:endParaRPr lang="en-US" sz="1400" dirty="0"/>
          </a:p>
        </p:txBody>
      </p:sp>
      <p:sp>
        <p:nvSpPr>
          <p:cNvPr id="3" name="Up Arrow 31">
            <a:extLst>
              <a:ext uri="{FF2B5EF4-FFF2-40B4-BE49-F238E27FC236}">
                <a16:creationId xmlns:a16="http://schemas.microsoft.com/office/drawing/2014/main" id="{04C791D2-478C-36F2-BA39-2FE2C9F7C2D6}"/>
              </a:ext>
            </a:extLst>
          </p:cNvPr>
          <p:cNvSpPr/>
          <p:nvPr/>
        </p:nvSpPr>
        <p:spPr>
          <a:xfrm>
            <a:off x="5580112" y="3333518"/>
            <a:ext cx="243860" cy="65691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861194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23217-6577-78F0-CB60-8210A3A0B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DC8D153-3A95-FB11-BF18-3D0DC8543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85860"/>
            <a:ext cx="9144000" cy="5338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כותרת 1">
            <a:extLst>
              <a:ext uri="{FF2B5EF4-FFF2-40B4-BE49-F238E27FC236}">
                <a16:creationId xmlns:a16="http://schemas.microsoft.com/office/drawing/2014/main" id="{B5BE2CCF-C3DF-D272-DCB1-22B700145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he-IL" dirty="0"/>
              <a:t>תזכורת מההרצאה</a:t>
            </a:r>
          </a:p>
        </p:txBody>
      </p:sp>
    </p:spTree>
    <p:extLst>
      <p:ext uri="{BB962C8B-B14F-4D97-AF65-F5344CB8AC3E}">
        <p14:creationId xmlns:p14="http://schemas.microsoft.com/office/powerpoint/2010/main" val="571877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571614" y="274184"/>
            <a:ext cx="8229600" cy="1143000"/>
          </a:xfrm>
        </p:spPr>
        <p:txBody>
          <a:bodyPr/>
          <a:lstStyle/>
          <a:p>
            <a:pPr rtl="1" eaLnBrk="1" hangingPunct="1"/>
            <a:r>
              <a:rPr lang="he-IL" dirty="0"/>
              <a:t>תכונות נורשות - דוגמה</a:t>
            </a:r>
            <a:endParaRPr lang="en-US" dirty="0"/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F2A91F4-7348-43DA-B227-A801910F2BCB}" type="slidenum">
              <a:rPr lang="he-IL" smtClean="0"/>
              <a:pPr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AED4B6-3965-9ADA-5109-21D169794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17" y="1135285"/>
            <a:ext cx="4116639" cy="36440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A20C24-D852-237D-2503-E130AA8312B4}"/>
              </a:ext>
            </a:extLst>
          </p:cNvPr>
          <p:cNvSpPr txBox="1"/>
          <p:nvPr/>
        </p:nvSpPr>
        <p:spPr>
          <a:xfrm>
            <a:off x="6208018" y="1879854"/>
            <a:ext cx="1109338" cy="30777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 err="1"/>
              <a:t>L.in</a:t>
            </a:r>
            <a:r>
              <a:rPr lang="en-US" sz="1400" dirty="0"/>
              <a:t> = </a:t>
            </a:r>
            <a:r>
              <a:rPr lang="en-US" sz="1400" dirty="0" err="1"/>
              <a:t>T.type</a:t>
            </a:r>
            <a:endParaRPr lang="en-US" sz="1400" dirty="0"/>
          </a:p>
        </p:txBody>
      </p:sp>
      <p:sp>
        <p:nvSpPr>
          <p:cNvPr id="8" name="Right Arrow 102">
            <a:extLst>
              <a:ext uri="{FF2B5EF4-FFF2-40B4-BE49-F238E27FC236}">
                <a16:creationId xmlns:a16="http://schemas.microsoft.com/office/drawing/2014/main" id="{CAC535B4-E277-3C4A-69EA-673B1E8B5295}"/>
              </a:ext>
            </a:extLst>
          </p:cNvPr>
          <p:cNvSpPr/>
          <p:nvPr/>
        </p:nvSpPr>
        <p:spPr>
          <a:xfrm>
            <a:off x="5885965" y="2204864"/>
            <a:ext cx="1698998" cy="1539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9" name="Left Arrow 103">
            <a:extLst>
              <a:ext uri="{FF2B5EF4-FFF2-40B4-BE49-F238E27FC236}">
                <a16:creationId xmlns:a16="http://schemas.microsoft.com/office/drawing/2014/main" id="{971D6B04-E831-EE36-3B7B-2D43D5FCAF61}"/>
              </a:ext>
            </a:extLst>
          </p:cNvPr>
          <p:cNvSpPr/>
          <p:nvPr/>
        </p:nvSpPr>
        <p:spPr>
          <a:xfrm rot="19256176">
            <a:off x="7007377" y="2764353"/>
            <a:ext cx="672929" cy="140266"/>
          </a:xfrm>
          <a:prstGeom prst="leftArrow">
            <a:avLst>
              <a:gd name="adj1" fmla="val 50000"/>
              <a:gd name="adj2" fmla="val 89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0" name="Left Arrow 104">
            <a:extLst>
              <a:ext uri="{FF2B5EF4-FFF2-40B4-BE49-F238E27FC236}">
                <a16:creationId xmlns:a16="http://schemas.microsoft.com/office/drawing/2014/main" id="{73890794-CF5F-9589-0F3F-505BFF23D304}"/>
              </a:ext>
            </a:extLst>
          </p:cNvPr>
          <p:cNvSpPr/>
          <p:nvPr/>
        </p:nvSpPr>
        <p:spPr>
          <a:xfrm rot="19072888">
            <a:off x="6523855" y="3707330"/>
            <a:ext cx="514688" cy="143695"/>
          </a:xfrm>
          <a:prstGeom prst="leftArrow">
            <a:avLst>
              <a:gd name="adj1" fmla="val 50000"/>
              <a:gd name="adj2" fmla="val 89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0946A3-A9F0-8713-DB20-B73BCE54DE9A}"/>
              </a:ext>
            </a:extLst>
          </p:cNvPr>
          <p:cNvSpPr/>
          <p:nvPr/>
        </p:nvSpPr>
        <p:spPr>
          <a:xfrm>
            <a:off x="4721680" y="1052519"/>
            <a:ext cx="792088" cy="852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2746E2-A73B-B9D3-A746-D77CE641BFFA}"/>
              </a:ext>
            </a:extLst>
          </p:cNvPr>
          <p:cNvSpPr/>
          <p:nvPr/>
        </p:nvSpPr>
        <p:spPr>
          <a:xfrm>
            <a:off x="4973182" y="2730406"/>
            <a:ext cx="1058257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85736C-1945-B25D-5F33-81B9D4C770B8}"/>
              </a:ext>
            </a:extLst>
          </p:cNvPr>
          <p:cNvSpPr/>
          <p:nvPr/>
        </p:nvSpPr>
        <p:spPr>
          <a:xfrm>
            <a:off x="6339420" y="4672553"/>
            <a:ext cx="792088" cy="852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DDA3A9-5452-8096-C104-CB2445A2D095}"/>
              </a:ext>
            </a:extLst>
          </p:cNvPr>
          <p:cNvSpPr/>
          <p:nvPr/>
        </p:nvSpPr>
        <p:spPr>
          <a:xfrm>
            <a:off x="7229345" y="3692552"/>
            <a:ext cx="902001" cy="9774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CE8AC9-8662-9FFF-C225-5F5D32C3E4F8}"/>
              </a:ext>
            </a:extLst>
          </p:cNvPr>
          <p:cNvSpPr/>
          <p:nvPr/>
        </p:nvSpPr>
        <p:spPr>
          <a:xfrm>
            <a:off x="7956376" y="2749186"/>
            <a:ext cx="855102" cy="10920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F6A87-C316-17FA-1AA9-E0987F7FA735}"/>
              </a:ext>
            </a:extLst>
          </p:cNvPr>
          <p:cNvSpPr txBox="1"/>
          <p:nvPr/>
        </p:nvSpPr>
        <p:spPr>
          <a:xfrm>
            <a:off x="7827845" y="2947085"/>
            <a:ext cx="999404" cy="30777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L1.in = </a:t>
            </a:r>
            <a:r>
              <a:rPr lang="en-US" sz="1400" dirty="0" err="1"/>
              <a:t>L.in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764A45-13FC-6585-5323-1D2E917CE54F}"/>
              </a:ext>
            </a:extLst>
          </p:cNvPr>
          <p:cNvSpPr txBox="1"/>
          <p:nvPr/>
        </p:nvSpPr>
        <p:spPr>
          <a:xfrm>
            <a:off x="7377142" y="3910128"/>
            <a:ext cx="1058257" cy="30777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L1.in = </a:t>
            </a:r>
            <a:r>
              <a:rPr lang="en-US" sz="1400" dirty="0" err="1"/>
              <a:t>L.in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8EE8DA-C732-007F-3CCA-AEA762121842}"/>
              </a:ext>
            </a:extLst>
          </p:cNvPr>
          <p:cNvSpPr/>
          <p:nvPr/>
        </p:nvSpPr>
        <p:spPr>
          <a:xfrm>
            <a:off x="8241837" y="958855"/>
            <a:ext cx="792088" cy="852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A504B09-9EFA-6F32-CE7A-79C064CBC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2876218"/>
            <a:ext cx="3486637" cy="238158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907288E-F606-801A-59B2-B8A26D576D05}"/>
              </a:ext>
            </a:extLst>
          </p:cNvPr>
          <p:cNvSpPr/>
          <p:nvPr/>
        </p:nvSpPr>
        <p:spPr>
          <a:xfrm>
            <a:off x="766023" y="3237373"/>
            <a:ext cx="3486637" cy="3328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F4B438-993C-76B0-8BB8-F45D13014C3B}"/>
              </a:ext>
            </a:extLst>
          </p:cNvPr>
          <p:cNvSpPr/>
          <p:nvPr/>
        </p:nvSpPr>
        <p:spPr>
          <a:xfrm>
            <a:off x="755575" y="4293096"/>
            <a:ext cx="3486637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4615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שאלה ממבחן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9700"/>
            <a:ext cx="8229600" cy="4525963"/>
          </a:xfrm>
        </p:spPr>
        <p:txBody>
          <a:bodyPr/>
          <a:lstStyle/>
          <a:p>
            <a:pPr algn="r" rtl="1"/>
            <a:r>
              <a:rPr lang="he-IL" sz="2000" dirty="0"/>
              <a:t>להלן </a:t>
            </a:r>
            <a:r>
              <a:rPr lang="he-IL" sz="2000" b="1" dirty="0">
                <a:solidFill>
                  <a:srgbClr val="0070C0"/>
                </a:solidFill>
              </a:rPr>
              <a:t>דקדוק המייצר ביטויים שיכולים להכיל השמות</a:t>
            </a:r>
            <a:r>
              <a:rPr lang="he-IL" sz="2000" dirty="0"/>
              <a:t>:</a:t>
            </a:r>
          </a:p>
          <a:p>
            <a:pPr algn="r" rtl="1"/>
            <a:endParaRPr lang="he-IL" sz="2000" dirty="0"/>
          </a:p>
          <a:p>
            <a:pPr algn="r" rtl="1"/>
            <a:r>
              <a:rPr lang="he-IL" sz="2000" dirty="0"/>
              <a:t>הסמנטיקה של הביטויים היא כמו בשפת </a:t>
            </a:r>
            <a:r>
              <a:rPr lang="en-US" sz="2000" dirty="0"/>
              <a:t>C</a:t>
            </a:r>
            <a:endParaRPr lang="he-IL" sz="2000" dirty="0"/>
          </a:p>
          <a:p>
            <a:pPr algn="r" rtl="1"/>
            <a:r>
              <a:rPr lang="he-IL" sz="2000" dirty="0"/>
              <a:t>למשל </a:t>
            </a:r>
            <a:r>
              <a:rPr lang="en-US" sz="2000" b="1" dirty="0"/>
              <a:t>"b := c"</a:t>
            </a:r>
            <a:r>
              <a:rPr lang="he-IL" sz="2000" b="1" dirty="0"/>
              <a:t> </a:t>
            </a:r>
            <a:r>
              <a:rPr lang="he-IL" sz="2000" dirty="0"/>
              <a:t>הוא ביטוי ששם את הערך של </a:t>
            </a:r>
            <a:r>
              <a:rPr lang="en-US" sz="2000" dirty="0"/>
              <a:t>c</a:t>
            </a:r>
            <a:r>
              <a:rPr lang="he-IL" sz="2000" dirty="0"/>
              <a:t> לתוך </a:t>
            </a:r>
            <a:r>
              <a:rPr lang="en-US" sz="2000" dirty="0"/>
              <a:t>b</a:t>
            </a:r>
            <a:r>
              <a:rPr lang="he-IL" sz="2000" dirty="0"/>
              <a:t>.</a:t>
            </a:r>
            <a:br>
              <a:rPr lang="en-US" sz="2000" dirty="0"/>
            </a:br>
            <a:r>
              <a:rPr lang="he-IL" sz="2000" dirty="0"/>
              <a:t>ערך הביטוי כולו הוא כמו הערך של </a:t>
            </a:r>
            <a:r>
              <a:rPr lang="en-US" sz="2000" dirty="0"/>
              <a:t>c</a:t>
            </a:r>
            <a:r>
              <a:rPr lang="he-IL" sz="2000" dirty="0"/>
              <a:t>.</a:t>
            </a:r>
          </a:p>
          <a:p>
            <a:pPr algn="r" rtl="1"/>
            <a:r>
              <a:rPr lang="he-IL" sz="2000" dirty="0"/>
              <a:t>הביטוי </a:t>
            </a:r>
            <a:r>
              <a:rPr lang="en-US" sz="2000" b="1" dirty="0"/>
              <a:t>"a := (b := c)"</a:t>
            </a:r>
            <a:r>
              <a:rPr lang="he-IL" sz="2000" dirty="0"/>
              <a:t> שם את הערך של </a:t>
            </a:r>
            <a:r>
              <a:rPr lang="en-US" sz="2000" dirty="0"/>
              <a:t>c</a:t>
            </a:r>
            <a:r>
              <a:rPr lang="he-IL" sz="2000" dirty="0"/>
              <a:t> לתוך </a:t>
            </a:r>
            <a:r>
              <a:rPr lang="en-US" sz="2000" dirty="0"/>
              <a:t>b</a:t>
            </a:r>
            <a:r>
              <a:rPr lang="he-IL" sz="2000" dirty="0"/>
              <a:t> ואח"כ ל </a:t>
            </a:r>
            <a:r>
              <a:rPr lang="en-US" sz="2000" dirty="0"/>
              <a:t>a</a:t>
            </a:r>
            <a:r>
              <a:rPr lang="he-IL" sz="2000" dirty="0"/>
              <a:t>.</a:t>
            </a:r>
          </a:p>
          <a:p>
            <a:pPr algn="r" rtl="1"/>
            <a:endParaRPr lang="he-IL" sz="2000" dirty="0"/>
          </a:p>
          <a:p>
            <a:pPr algn="r" rtl="1"/>
            <a:r>
              <a:rPr lang="he-IL" sz="2000" b="1" dirty="0"/>
              <a:t>בנו הגדרה מונחית תחביר </a:t>
            </a:r>
            <a:r>
              <a:rPr lang="he-IL" sz="2000" dirty="0"/>
              <a:t>שתבדוק כי ביטויים הממוקמים בצד שמאל של השמה הם כולם </a:t>
            </a:r>
            <a:r>
              <a:rPr lang="en-US" sz="2000" b="1" dirty="0">
                <a:solidFill>
                  <a:srgbClr val="00B050"/>
                </a:solidFill>
              </a:rPr>
              <a:t>l-values</a:t>
            </a:r>
            <a:r>
              <a:rPr lang="he-IL" sz="2000" b="1" dirty="0">
                <a:solidFill>
                  <a:srgbClr val="00B050"/>
                </a:solidFill>
              </a:rPr>
              <a:t>, </a:t>
            </a:r>
            <a:r>
              <a:rPr lang="he-IL" sz="2000" dirty="0"/>
              <a:t>כלומר </a:t>
            </a:r>
            <a:r>
              <a:rPr lang="he-IL" sz="2000" b="1" dirty="0">
                <a:solidFill>
                  <a:srgbClr val="00B050"/>
                </a:solidFill>
              </a:rPr>
              <a:t>ניתן לבצע השמה אליהם</a:t>
            </a:r>
            <a:r>
              <a:rPr lang="he-IL" sz="2000" b="1" dirty="0"/>
              <a:t>.</a:t>
            </a:r>
          </a:p>
          <a:p>
            <a:pPr algn="r" rtl="1"/>
            <a:endParaRPr lang="en-US" sz="2000" dirty="0"/>
          </a:p>
          <a:p>
            <a:pPr algn="r" rtl="1"/>
            <a:r>
              <a:rPr lang="he-IL" sz="2000" dirty="0"/>
              <a:t>השתמשו בתכונה </a:t>
            </a:r>
            <a:r>
              <a:rPr lang="he-IL" sz="2000" b="1" dirty="0"/>
              <a:t>נורשת</a:t>
            </a:r>
            <a:r>
              <a:rPr lang="he-IL" sz="2000" dirty="0"/>
              <a:t>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E.target</a:t>
            </a:r>
            <a:r>
              <a:rPr lang="he-IL" sz="2000" dirty="0"/>
              <a:t> שתקבע </a:t>
            </a:r>
            <a:r>
              <a:rPr lang="he-IL" sz="2000" dirty="0">
                <a:solidFill>
                  <a:schemeClr val="accent6">
                    <a:lumMod val="75000"/>
                  </a:schemeClr>
                </a:solidFill>
              </a:rPr>
              <a:t>אם הביטוי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he-IL" sz="2000" dirty="0">
                <a:solidFill>
                  <a:schemeClr val="accent6">
                    <a:lumMod val="75000"/>
                  </a:schemeClr>
                </a:solidFill>
              </a:rPr>
              <a:t> הוא יעד של השמה או לא.</a:t>
            </a:r>
          </a:p>
          <a:p>
            <a:pPr algn="r" rtl="1"/>
            <a:endParaRPr lang="he-IL" sz="2000" dirty="0">
              <a:solidFill>
                <a:schemeClr val="accent6">
                  <a:lumMod val="75000"/>
                </a:schemeClr>
              </a:solidFill>
            </a:endParaRPr>
          </a:p>
          <a:p>
            <a:pPr algn="r" rtl="1"/>
            <a:r>
              <a:rPr lang="he-IL" sz="2000" dirty="0"/>
              <a:t>דווחו על שגיאה במקרה שמבוצעת השמה לביטוי שאינו </a:t>
            </a:r>
            <a:r>
              <a:rPr lang="en-US" sz="2000" dirty="0"/>
              <a:t>l-value</a:t>
            </a:r>
            <a:r>
              <a:rPr lang="he-IL" sz="2000" dirty="0"/>
              <a:t>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TextBox 43"/>
          <p:cNvSpPr txBox="1">
            <a:spLocks noChangeArrowheads="1"/>
          </p:cNvSpPr>
          <p:nvPr/>
        </p:nvSpPr>
        <p:spPr bwMode="auto">
          <a:xfrm>
            <a:off x="114300" y="1571612"/>
            <a:ext cx="2000264" cy="22467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S→ E</a:t>
            </a:r>
          </a:p>
          <a:p>
            <a:r>
              <a:rPr lang="en-US" sz="2000" b="1" dirty="0"/>
              <a:t>E → E := E</a:t>
            </a:r>
          </a:p>
          <a:p>
            <a:r>
              <a:rPr lang="en-US" sz="2000" b="1" dirty="0"/>
              <a:t>E → E + E</a:t>
            </a:r>
          </a:p>
          <a:p>
            <a:r>
              <a:rPr lang="en-US" sz="2000" b="1" dirty="0"/>
              <a:t>E → ( E )</a:t>
            </a:r>
          </a:p>
          <a:p>
            <a:r>
              <a:rPr lang="en-US" sz="2000" b="1" dirty="0"/>
              <a:t>E → id</a:t>
            </a:r>
            <a:endParaRPr lang="he-IL" sz="2000" b="1" dirty="0"/>
          </a:p>
          <a:p>
            <a:r>
              <a:rPr lang="en-US" sz="2000" b="1" dirty="0"/>
              <a:t>E → num</a:t>
            </a:r>
          </a:p>
          <a:p>
            <a:r>
              <a:rPr lang="en-US" sz="2000" b="1" dirty="0"/>
              <a:t>E → * 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פתרון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214422"/>
            <a:ext cx="8229600" cy="4525963"/>
          </a:xfrm>
        </p:spPr>
        <p:txBody>
          <a:bodyPr/>
          <a:lstStyle/>
          <a:p>
            <a:pPr algn="r" rtl="1"/>
            <a:r>
              <a:rPr lang="he-IL" sz="1800" dirty="0"/>
              <a:t>נשתמש באוסף כללים סמנטיים שיקבעו את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</a:rPr>
              <a:t>E.target</a:t>
            </a:r>
            <a:r>
              <a:rPr lang="he-IL" sz="1800" dirty="0"/>
              <a:t> להיות </a:t>
            </a:r>
            <a:r>
              <a:rPr lang="en-US" sz="1800" dirty="0"/>
              <a:t>TRUE</a:t>
            </a:r>
            <a:r>
              <a:rPr lang="he-IL" sz="1800" dirty="0"/>
              <a:t> אם </a:t>
            </a:r>
            <a:r>
              <a:rPr lang="en-US" sz="1800" dirty="0"/>
              <a:t>E</a:t>
            </a:r>
            <a:r>
              <a:rPr lang="he-IL" sz="1800" dirty="0"/>
              <a:t> הוא יעד של השמה, ויזהו מתי צד שמאל של השמה אינו יכול להיות </a:t>
            </a:r>
            <a:r>
              <a:rPr lang="en-US" sz="1800" dirty="0"/>
              <a:t>l-value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6" name="TextBox 43"/>
          <p:cNvSpPr txBox="1">
            <a:spLocks noChangeArrowheads="1"/>
          </p:cNvSpPr>
          <p:nvPr/>
        </p:nvSpPr>
        <p:spPr bwMode="auto">
          <a:xfrm>
            <a:off x="899592" y="1938188"/>
            <a:ext cx="885828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S→ E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E → E1 := E2		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E → E1 + E2		</a:t>
            </a:r>
          </a:p>
          <a:p>
            <a:br>
              <a:rPr lang="en-US" sz="2000" dirty="0">
                <a:solidFill>
                  <a:srgbClr val="FF0000"/>
                </a:solidFill>
              </a:rPr>
            </a:b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E → ( E1 )		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E → id</a:t>
            </a:r>
            <a:br>
              <a:rPr lang="en-US" sz="2000" dirty="0"/>
            </a:br>
            <a:endParaRPr lang="he-IL" sz="2000" dirty="0"/>
          </a:p>
          <a:p>
            <a:r>
              <a:rPr lang="en-US" sz="2000" dirty="0"/>
              <a:t>E → </a:t>
            </a:r>
            <a:r>
              <a:rPr lang="en-US" sz="2000" dirty="0" err="1"/>
              <a:t>num</a:t>
            </a:r>
            <a:r>
              <a:rPr lang="en-US" sz="2000" dirty="0"/>
              <a:t>		 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E → * E1		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20" y="5599766"/>
            <a:ext cx="2658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 </a:t>
            </a:r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E.target</a:t>
            </a:r>
            <a:r>
              <a:rPr lang="en-US" sz="2000" dirty="0"/>
              <a:t> </a:t>
            </a:r>
            <a:r>
              <a:rPr lang="en-US" sz="2000" b="1" dirty="0"/>
              <a:t>then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error</a:t>
            </a:r>
            <a:endParaRPr 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641760" y="6247059"/>
            <a:ext cx="2483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E1.target </a:t>
            </a:r>
            <a:r>
              <a:rPr lang="en-US" sz="2000" dirty="0"/>
              <a:t>= </a:t>
            </a:r>
            <a:r>
              <a:rPr lang="en-US" sz="2000" b="1" dirty="0"/>
              <a:t>FALSE</a:t>
            </a:r>
            <a:r>
              <a:rPr lang="en-US" sz="2000" dirty="0"/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9069" y="4375630"/>
            <a:ext cx="2480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E1.target</a:t>
            </a:r>
            <a:r>
              <a:rPr lang="en-US" sz="2000" dirty="0"/>
              <a:t> =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E.target</a:t>
            </a:r>
            <a:r>
              <a:rPr lang="en-US" sz="2000" dirty="0"/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5306" y="3471464"/>
            <a:ext cx="47120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E1.target </a:t>
            </a:r>
            <a:r>
              <a:rPr lang="en-US" sz="2000" dirty="0"/>
              <a:t>= </a:t>
            </a:r>
            <a:r>
              <a:rPr lang="en-US" sz="2000" b="1" dirty="0"/>
              <a:t>FALSE</a:t>
            </a:r>
            <a:r>
              <a:rPr lang="en-US" sz="2000" dirty="0"/>
              <a:t>;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E2.target</a:t>
            </a:r>
            <a:r>
              <a:rPr lang="en-US" sz="2000" dirty="0"/>
              <a:t> = </a:t>
            </a:r>
            <a:r>
              <a:rPr lang="en-US" sz="2000" b="1" dirty="0"/>
              <a:t>FALSE</a:t>
            </a:r>
            <a:r>
              <a:rPr lang="en-US" sz="2000" dirty="0"/>
              <a:t>;</a:t>
            </a:r>
            <a:br>
              <a:rPr lang="en-US" sz="2000" dirty="0"/>
            </a:br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E.target</a:t>
            </a:r>
            <a:r>
              <a:rPr lang="en-US" sz="2000" dirty="0"/>
              <a:t> </a:t>
            </a:r>
            <a:r>
              <a:rPr lang="en-US" sz="2000" b="1" dirty="0"/>
              <a:t>then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error</a:t>
            </a:r>
            <a:r>
              <a:rPr lang="en-US" sz="2000" dirty="0"/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0697" y="2548060"/>
            <a:ext cx="2658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E1.target</a:t>
            </a:r>
            <a:r>
              <a:rPr lang="en-US" sz="2000" dirty="0"/>
              <a:t> = </a:t>
            </a:r>
            <a:r>
              <a:rPr lang="en-US" sz="2000" b="1" dirty="0"/>
              <a:t>TRUE</a:t>
            </a:r>
            <a:r>
              <a:rPr lang="en-US" sz="2000" dirty="0"/>
              <a:t>;</a:t>
            </a:r>
          </a:p>
          <a:p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E.target</a:t>
            </a:r>
            <a:r>
              <a:rPr lang="en-US" sz="2000" dirty="0"/>
              <a:t> </a:t>
            </a:r>
            <a:r>
              <a:rPr lang="en-US" sz="2000" b="1" dirty="0"/>
              <a:t>then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error</a:t>
            </a:r>
            <a:r>
              <a:rPr lang="en-US" sz="2000" b="1" dirty="0"/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5432" y="2541016"/>
            <a:ext cx="26246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  E2.target</a:t>
            </a:r>
            <a:r>
              <a:rPr lang="en-US" sz="2000" dirty="0"/>
              <a:t> = </a:t>
            </a:r>
            <a:r>
              <a:rPr lang="en-US" sz="2000" b="1" dirty="0"/>
              <a:t>FALSE</a:t>
            </a:r>
            <a:r>
              <a:rPr lang="en-US" sz="2000" dirty="0"/>
              <a:t>;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3625606" y="1918344"/>
            <a:ext cx="23409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E.target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000" dirty="0"/>
              <a:t>= </a:t>
            </a:r>
            <a:r>
              <a:rPr lang="en-US" sz="2000" b="1" dirty="0"/>
              <a:t>FALSE</a:t>
            </a:r>
            <a:r>
              <a:rPr lang="en-US" sz="2000" dirty="0"/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3" grpId="0"/>
      <p:bldP spid="14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43240" y="5715016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198" y="5715016"/>
            <a:ext cx="551522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2234" y="5715016"/>
            <a:ext cx="571504" cy="64633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3600" dirty="0"/>
              <a:t>:=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190" y="5715016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032" y="3501008"/>
            <a:ext cx="857250" cy="76993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5896" y="3789363"/>
            <a:ext cx="93610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ASSIGN</a:t>
            </a:r>
          </a:p>
        </p:txBody>
      </p:sp>
      <p:cxnSp>
        <p:nvCxnSpPr>
          <p:cNvPr id="20" name="Straight Connector 19"/>
          <p:cNvCxnSpPr>
            <a:endCxn id="22" idx="2"/>
          </p:cNvCxnSpPr>
          <p:nvPr/>
        </p:nvCxnSpPr>
        <p:spPr>
          <a:xfrm flipV="1">
            <a:off x="1187624" y="2111375"/>
            <a:ext cx="861839" cy="138963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35150" y="1341438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5292080" y="2348880"/>
            <a:ext cx="5333" cy="119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48064" y="1628800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3928" y="836712"/>
            <a:ext cx="42862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E</a:t>
            </a:r>
          </a:p>
        </p:txBody>
      </p:sp>
      <p:cxnSp>
        <p:nvCxnSpPr>
          <p:cNvPr id="41" name="Straight Connector 40"/>
          <p:cNvCxnSpPr>
            <a:stCxn id="39" idx="1"/>
            <a:endCxn id="22" idx="0"/>
          </p:cNvCxnSpPr>
          <p:nvPr/>
        </p:nvCxnSpPr>
        <p:spPr>
          <a:xfrm flipH="1">
            <a:off x="2049463" y="1067545"/>
            <a:ext cx="1874465" cy="2738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9" idx="3"/>
            <a:endCxn id="31" idx="0"/>
          </p:cNvCxnSpPr>
          <p:nvPr/>
        </p:nvCxnSpPr>
        <p:spPr>
          <a:xfrm>
            <a:off x="4352553" y="1067545"/>
            <a:ext cx="1009824" cy="561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432846" y="928901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29586" y="5929330"/>
            <a:ext cx="928726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29563" y="4786313"/>
            <a:ext cx="1071562" cy="4000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Lexical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58125" y="1785938"/>
            <a:ext cx="1214438" cy="4000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Syntactic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250" y="366713"/>
            <a:ext cx="1357313" cy="4000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Semantic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4139952" y="4221088"/>
            <a:ext cx="695" cy="1519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4" idx="2"/>
          </p:cNvCxnSpPr>
          <p:nvPr/>
        </p:nvCxnSpPr>
        <p:spPr>
          <a:xfrm>
            <a:off x="5288657" y="4270945"/>
            <a:ext cx="3424" cy="1471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83" name="Slide Number Placeholder 60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49DFE0E-3B42-4002-AE5C-29C511444423}" type="slidenum">
              <a:rPr lang="he-IL" smtClean="0"/>
              <a:pPr/>
              <a:t>15</a:t>
            </a:fld>
            <a:endParaRPr lang="en-US"/>
          </a:p>
        </p:txBody>
      </p:sp>
      <p:cxnSp>
        <p:nvCxnSpPr>
          <p:cNvPr id="57" name="Straight Connector 29"/>
          <p:cNvCxnSpPr>
            <a:stCxn id="39" idx="2"/>
            <a:endCxn id="16" idx="0"/>
          </p:cNvCxnSpPr>
          <p:nvPr/>
        </p:nvCxnSpPr>
        <p:spPr>
          <a:xfrm flipH="1">
            <a:off x="4103948" y="1298377"/>
            <a:ext cx="34293" cy="2490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267744" y="5733256"/>
            <a:ext cx="551522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79712" y="4399260"/>
            <a:ext cx="857250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PLUS</a:t>
            </a:r>
          </a:p>
        </p:txBody>
      </p:sp>
      <p:cxnSp>
        <p:nvCxnSpPr>
          <p:cNvPr id="75" name="Straight Connector 19"/>
          <p:cNvCxnSpPr>
            <a:stCxn id="74" idx="0"/>
            <a:endCxn id="22" idx="2"/>
          </p:cNvCxnSpPr>
          <p:nvPr/>
        </p:nvCxnSpPr>
        <p:spPr>
          <a:xfrm flipH="1" flipV="1">
            <a:off x="2049463" y="2111375"/>
            <a:ext cx="358874" cy="228788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115616" y="2780928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27784" y="2708920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59832" y="4339829"/>
            <a:ext cx="85725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/>
              <a:t>num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3568" y="4221088"/>
            <a:ext cx="85725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800" dirty="0"/>
              <a:t>num</a:t>
            </a:r>
          </a:p>
        </p:txBody>
      </p:sp>
      <p:cxnSp>
        <p:nvCxnSpPr>
          <p:cNvPr id="83" name="Straight Connector 19"/>
          <p:cNvCxnSpPr>
            <a:stCxn id="5" idx="0"/>
            <a:endCxn id="82" idx="2"/>
          </p:cNvCxnSpPr>
          <p:nvPr/>
        </p:nvCxnSpPr>
        <p:spPr>
          <a:xfrm flipH="1" flipV="1">
            <a:off x="1112193" y="4744308"/>
            <a:ext cx="663766" cy="970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19"/>
          <p:cNvCxnSpPr>
            <a:stCxn id="65" idx="0"/>
          </p:cNvCxnSpPr>
          <p:nvPr/>
        </p:nvCxnSpPr>
        <p:spPr>
          <a:xfrm flipH="1" flipV="1">
            <a:off x="2481512" y="4797154"/>
            <a:ext cx="61993" cy="936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19"/>
          <p:cNvCxnSpPr>
            <a:stCxn id="80" idx="0"/>
            <a:endCxn id="22" idx="2"/>
          </p:cNvCxnSpPr>
          <p:nvPr/>
        </p:nvCxnSpPr>
        <p:spPr>
          <a:xfrm flipH="1" flipV="1">
            <a:off x="2049463" y="2111375"/>
            <a:ext cx="792634" cy="59754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19"/>
          <p:cNvCxnSpPr>
            <a:stCxn id="82" idx="0"/>
          </p:cNvCxnSpPr>
          <p:nvPr/>
        </p:nvCxnSpPr>
        <p:spPr>
          <a:xfrm flipV="1">
            <a:off x="1112193" y="3573018"/>
            <a:ext cx="217190" cy="648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19"/>
          <p:cNvCxnSpPr>
            <a:stCxn id="81" idx="0"/>
          </p:cNvCxnSpPr>
          <p:nvPr/>
        </p:nvCxnSpPr>
        <p:spPr>
          <a:xfrm flipH="1" flipV="1">
            <a:off x="2987825" y="3501009"/>
            <a:ext cx="500632" cy="838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923928" y="0"/>
            <a:ext cx="428625" cy="5847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/>
              <a:t>S</a:t>
            </a:r>
          </a:p>
        </p:txBody>
      </p:sp>
      <p:cxnSp>
        <p:nvCxnSpPr>
          <p:cNvPr id="111" name="Straight Connector 40"/>
          <p:cNvCxnSpPr>
            <a:stCxn id="101" idx="2"/>
            <a:endCxn id="39" idx="0"/>
          </p:cNvCxnSpPr>
          <p:nvPr/>
        </p:nvCxnSpPr>
        <p:spPr>
          <a:xfrm>
            <a:off x="4138241" y="584775"/>
            <a:ext cx="0" cy="251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362376" y="188640"/>
            <a:ext cx="2161952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b="1" dirty="0"/>
              <a:t>דוגמה 1</a:t>
            </a:r>
            <a:br>
              <a:rPr lang="en-US" sz="3200" b="1" dirty="0"/>
            </a:br>
            <a:r>
              <a:rPr lang="he-IL" sz="3200" b="1" dirty="0"/>
              <a:t>(ביטוי שגוי)</a:t>
            </a:r>
          </a:p>
        </p:txBody>
      </p:sp>
      <p:cxnSp>
        <p:nvCxnSpPr>
          <p:cNvPr id="119" name="Straight Connector 19"/>
          <p:cNvCxnSpPr>
            <a:stCxn id="4" idx="0"/>
            <a:endCxn id="81" idx="2"/>
          </p:cNvCxnSpPr>
          <p:nvPr/>
        </p:nvCxnSpPr>
        <p:spPr>
          <a:xfrm flipV="1">
            <a:off x="3428992" y="4863049"/>
            <a:ext cx="59465" cy="851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913203" y="3181533"/>
            <a:ext cx="787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S→ 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0152" y="3563059"/>
            <a:ext cx="1623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E.target</a:t>
            </a:r>
            <a:r>
              <a:rPr lang="en-US" sz="1400" dirty="0"/>
              <a:t> = FALSE;</a:t>
            </a:r>
          </a:p>
        </p:txBody>
      </p:sp>
    </p:spTree>
    <p:extLst>
      <p:ext uri="{BB962C8B-B14F-4D97-AF65-F5344CB8AC3E}">
        <p14:creationId xmlns:p14="http://schemas.microsoft.com/office/powerpoint/2010/main" val="363266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3" grpId="0"/>
      <p:bldP spid="4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43240" y="5715016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198" y="5715016"/>
            <a:ext cx="551522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2234" y="5715016"/>
            <a:ext cx="571504" cy="64633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3600" dirty="0"/>
              <a:t>:=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190" y="5715016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032" y="3501008"/>
            <a:ext cx="857250" cy="76993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5896" y="3789363"/>
            <a:ext cx="93610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ASSIGN</a:t>
            </a:r>
          </a:p>
        </p:txBody>
      </p:sp>
      <p:cxnSp>
        <p:nvCxnSpPr>
          <p:cNvPr id="20" name="Straight Connector 19"/>
          <p:cNvCxnSpPr>
            <a:endCxn id="22" idx="2"/>
          </p:cNvCxnSpPr>
          <p:nvPr/>
        </p:nvCxnSpPr>
        <p:spPr>
          <a:xfrm flipV="1">
            <a:off x="1187624" y="2111375"/>
            <a:ext cx="861839" cy="138963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35150" y="1341438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5292080" y="2348880"/>
            <a:ext cx="5333" cy="119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48064" y="1628800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3928" y="836712"/>
            <a:ext cx="42862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E</a:t>
            </a:r>
          </a:p>
        </p:txBody>
      </p:sp>
      <p:cxnSp>
        <p:nvCxnSpPr>
          <p:cNvPr id="41" name="Straight Connector 40"/>
          <p:cNvCxnSpPr>
            <a:stCxn id="39" idx="1"/>
            <a:endCxn id="22" idx="0"/>
          </p:cNvCxnSpPr>
          <p:nvPr/>
        </p:nvCxnSpPr>
        <p:spPr>
          <a:xfrm flipH="1">
            <a:off x="2049463" y="1067545"/>
            <a:ext cx="1874465" cy="2738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9" idx="3"/>
            <a:endCxn id="31" idx="0"/>
          </p:cNvCxnSpPr>
          <p:nvPr/>
        </p:nvCxnSpPr>
        <p:spPr>
          <a:xfrm>
            <a:off x="4352553" y="1067545"/>
            <a:ext cx="1009824" cy="561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0152" y="2204865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29586" y="5929330"/>
            <a:ext cx="928726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29563" y="4786313"/>
            <a:ext cx="1071562" cy="4000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Lexical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58125" y="1785938"/>
            <a:ext cx="1214438" cy="4000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Syntactic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250" y="366713"/>
            <a:ext cx="1357313" cy="4000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Semantic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4139952" y="4221088"/>
            <a:ext cx="695" cy="1519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4" idx="2"/>
          </p:cNvCxnSpPr>
          <p:nvPr/>
        </p:nvCxnSpPr>
        <p:spPr>
          <a:xfrm>
            <a:off x="5288657" y="4270945"/>
            <a:ext cx="3424" cy="1471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83" name="Slide Number Placeholder 60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49DFE0E-3B42-4002-AE5C-29C511444423}" type="slidenum">
              <a:rPr lang="he-IL" smtClean="0"/>
              <a:pPr/>
              <a:t>16</a:t>
            </a:fld>
            <a:endParaRPr lang="en-US"/>
          </a:p>
        </p:txBody>
      </p:sp>
      <p:cxnSp>
        <p:nvCxnSpPr>
          <p:cNvPr id="57" name="Straight Connector 29"/>
          <p:cNvCxnSpPr>
            <a:stCxn id="39" idx="2"/>
            <a:endCxn id="16" idx="0"/>
          </p:cNvCxnSpPr>
          <p:nvPr/>
        </p:nvCxnSpPr>
        <p:spPr>
          <a:xfrm flipH="1">
            <a:off x="4103948" y="1298377"/>
            <a:ext cx="34293" cy="2490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267744" y="5733256"/>
            <a:ext cx="551522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79712" y="4399260"/>
            <a:ext cx="857250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PLUS</a:t>
            </a:r>
          </a:p>
        </p:txBody>
      </p:sp>
      <p:cxnSp>
        <p:nvCxnSpPr>
          <p:cNvPr id="75" name="Straight Connector 19"/>
          <p:cNvCxnSpPr>
            <a:stCxn id="74" idx="0"/>
            <a:endCxn id="22" idx="2"/>
          </p:cNvCxnSpPr>
          <p:nvPr/>
        </p:nvCxnSpPr>
        <p:spPr>
          <a:xfrm flipH="1" flipV="1">
            <a:off x="2049463" y="2111375"/>
            <a:ext cx="358874" cy="228788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115616" y="2780928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27784" y="2708920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59832" y="4339829"/>
            <a:ext cx="85725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/>
              <a:t>num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3568" y="4221088"/>
            <a:ext cx="85725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800" dirty="0"/>
              <a:t>num</a:t>
            </a:r>
          </a:p>
        </p:txBody>
      </p:sp>
      <p:cxnSp>
        <p:nvCxnSpPr>
          <p:cNvPr id="83" name="Straight Connector 19"/>
          <p:cNvCxnSpPr>
            <a:stCxn id="5" idx="0"/>
            <a:endCxn id="82" idx="2"/>
          </p:cNvCxnSpPr>
          <p:nvPr/>
        </p:nvCxnSpPr>
        <p:spPr>
          <a:xfrm flipH="1" flipV="1">
            <a:off x="1112193" y="4744308"/>
            <a:ext cx="663766" cy="970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19"/>
          <p:cNvCxnSpPr>
            <a:stCxn id="65" idx="0"/>
          </p:cNvCxnSpPr>
          <p:nvPr/>
        </p:nvCxnSpPr>
        <p:spPr>
          <a:xfrm flipH="1" flipV="1">
            <a:off x="2481512" y="4797154"/>
            <a:ext cx="61993" cy="936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19"/>
          <p:cNvCxnSpPr>
            <a:stCxn id="80" idx="0"/>
            <a:endCxn id="22" idx="2"/>
          </p:cNvCxnSpPr>
          <p:nvPr/>
        </p:nvCxnSpPr>
        <p:spPr>
          <a:xfrm flipH="1" flipV="1">
            <a:off x="2049463" y="2111375"/>
            <a:ext cx="792634" cy="59754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19"/>
          <p:cNvCxnSpPr>
            <a:stCxn id="82" idx="0"/>
          </p:cNvCxnSpPr>
          <p:nvPr/>
        </p:nvCxnSpPr>
        <p:spPr>
          <a:xfrm flipV="1">
            <a:off x="1112193" y="3573018"/>
            <a:ext cx="217190" cy="648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19"/>
          <p:cNvCxnSpPr>
            <a:stCxn id="81" idx="0"/>
          </p:cNvCxnSpPr>
          <p:nvPr/>
        </p:nvCxnSpPr>
        <p:spPr>
          <a:xfrm flipH="1" flipV="1">
            <a:off x="2987825" y="3501009"/>
            <a:ext cx="500632" cy="838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923928" y="0"/>
            <a:ext cx="428625" cy="5847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/>
              <a:t>S</a:t>
            </a:r>
          </a:p>
        </p:txBody>
      </p:sp>
      <p:cxnSp>
        <p:nvCxnSpPr>
          <p:cNvPr id="111" name="Straight Connector 40"/>
          <p:cNvCxnSpPr>
            <a:stCxn id="101" idx="2"/>
            <a:endCxn id="39" idx="0"/>
          </p:cNvCxnSpPr>
          <p:nvPr/>
        </p:nvCxnSpPr>
        <p:spPr>
          <a:xfrm>
            <a:off x="4138241" y="584775"/>
            <a:ext cx="0" cy="251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362376" y="188640"/>
            <a:ext cx="2161952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b="1" dirty="0"/>
              <a:t>דוגמה 1</a:t>
            </a:r>
            <a:br>
              <a:rPr lang="en-US" sz="3200" b="1" dirty="0"/>
            </a:br>
            <a:r>
              <a:rPr lang="he-IL" sz="3200" b="1" dirty="0"/>
              <a:t>(ביטוי שגוי)</a:t>
            </a:r>
          </a:p>
        </p:txBody>
      </p:sp>
      <p:cxnSp>
        <p:nvCxnSpPr>
          <p:cNvPr id="119" name="Straight Connector 19"/>
          <p:cNvCxnSpPr>
            <a:stCxn id="4" idx="0"/>
            <a:endCxn id="81" idx="2"/>
          </p:cNvCxnSpPr>
          <p:nvPr/>
        </p:nvCxnSpPr>
        <p:spPr>
          <a:xfrm flipV="1">
            <a:off x="3428992" y="4863049"/>
            <a:ext cx="59465" cy="851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913203" y="3181533"/>
            <a:ext cx="15888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 → E1 := E2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0152" y="3563059"/>
            <a:ext cx="3238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E1.target = TRUE; E2.target = FALSE;</a:t>
            </a:r>
          </a:p>
          <a:p>
            <a:r>
              <a:rPr lang="en-US" sz="1400" dirty="0"/>
              <a:t>if </a:t>
            </a:r>
            <a:r>
              <a:rPr lang="en-US" sz="1400" dirty="0" err="1"/>
              <a:t>E.target</a:t>
            </a:r>
            <a:r>
              <a:rPr lang="en-US" sz="1400" dirty="0"/>
              <a:t> then </a:t>
            </a:r>
            <a:r>
              <a:rPr lang="en-US" sz="1400" dirty="0">
                <a:solidFill>
                  <a:srgbClr val="FF0000"/>
                </a:solidFill>
              </a:rPr>
              <a:t>error</a:t>
            </a:r>
            <a:r>
              <a:rPr lang="en-US" sz="1400" dirty="0"/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9752" y="1340768"/>
            <a:ext cx="1008112" cy="307777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2846" y="928901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=F</a:t>
            </a:r>
          </a:p>
        </p:txBody>
      </p:sp>
    </p:spTree>
    <p:extLst>
      <p:ext uri="{BB962C8B-B14F-4D97-AF65-F5344CB8AC3E}">
        <p14:creationId xmlns:p14="http://schemas.microsoft.com/office/powerpoint/2010/main" val="236067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3" grpId="0"/>
      <p:bldP spid="46" grpId="0"/>
      <p:bldP spid="4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43240" y="5715016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198" y="5715016"/>
            <a:ext cx="551522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2234" y="5715016"/>
            <a:ext cx="571504" cy="64633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3600" dirty="0"/>
              <a:t>:=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9190" y="5715016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0032" y="3501008"/>
            <a:ext cx="857250" cy="76993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5896" y="3789363"/>
            <a:ext cx="93610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ASSIGN</a:t>
            </a:r>
          </a:p>
        </p:txBody>
      </p:sp>
      <p:cxnSp>
        <p:nvCxnSpPr>
          <p:cNvPr id="20" name="Straight Connector 19"/>
          <p:cNvCxnSpPr>
            <a:endCxn id="22" idx="2"/>
          </p:cNvCxnSpPr>
          <p:nvPr/>
        </p:nvCxnSpPr>
        <p:spPr>
          <a:xfrm flipV="1">
            <a:off x="1187624" y="2111375"/>
            <a:ext cx="861839" cy="138963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35150" y="1341438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5292080" y="2348880"/>
            <a:ext cx="5333" cy="119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48064" y="1628800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3928" y="836712"/>
            <a:ext cx="42862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E</a:t>
            </a:r>
          </a:p>
        </p:txBody>
      </p:sp>
      <p:cxnSp>
        <p:nvCxnSpPr>
          <p:cNvPr id="41" name="Straight Connector 40"/>
          <p:cNvCxnSpPr>
            <a:stCxn id="39" idx="1"/>
            <a:endCxn id="22" idx="0"/>
          </p:cNvCxnSpPr>
          <p:nvPr/>
        </p:nvCxnSpPr>
        <p:spPr>
          <a:xfrm flipH="1">
            <a:off x="2049463" y="1067545"/>
            <a:ext cx="1874465" cy="2738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39" idx="3"/>
            <a:endCxn id="31" idx="0"/>
          </p:cNvCxnSpPr>
          <p:nvPr/>
        </p:nvCxnSpPr>
        <p:spPr>
          <a:xfrm>
            <a:off x="4352553" y="1067545"/>
            <a:ext cx="1009824" cy="561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0152" y="2204865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29586" y="5929330"/>
            <a:ext cx="928726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29563" y="4786313"/>
            <a:ext cx="1071562" cy="4000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Lexical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58125" y="1785938"/>
            <a:ext cx="1214438" cy="4000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Syntactic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250" y="366713"/>
            <a:ext cx="1357313" cy="4000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Semantic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4139952" y="4221088"/>
            <a:ext cx="695" cy="1519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14" idx="2"/>
          </p:cNvCxnSpPr>
          <p:nvPr/>
        </p:nvCxnSpPr>
        <p:spPr>
          <a:xfrm>
            <a:off x="5288657" y="4270945"/>
            <a:ext cx="3424" cy="1471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83" name="Slide Number Placeholder 60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49DFE0E-3B42-4002-AE5C-29C511444423}" type="slidenum">
              <a:rPr lang="he-IL" smtClean="0"/>
              <a:pPr/>
              <a:t>17</a:t>
            </a:fld>
            <a:endParaRPr lang="en-US"/>
          </a:p>
        </p:txBody>
      </p:sp>
      <p:cxnSp>
        <p:nvCxnSpPr>
          <p:cNvPr id="57" name="Straight Connector 29"/>
          <p:cNvCxnSpPr>
            <a:stCxn id="39" idx="2"/>
            <a:endCxn id="16" idx="0"/>
          </p:cNvCxnSpPr>
          <p:nvPr/>
        </p:nvCxnSpPr>
        <p:spPr>
          <a:xfrm flipH="1">
            <a:off x="4103948" y="1298377"/>
            <a:ext cx="34293" cy="2490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267744" y="5733256"/>
            <a:ext cx="551522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79712" y="4399260"/>
            <a:ext cx="857250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PLUS</a:t>
            </a:r>
          </a:p>
        </p:txBody>
      </p:sp>
      <p:cxnSp>
        <p:nvCxnSpPr>
          <p:cNvPr id="75" name="Straight Connector 19"/>
          <p:cNvCxnSpPr>
            <a:stCxn id="74" idx="0"/>
            <a:endCxn id="22" idx="2"/>
          </p:cNvCxnSpPr>
          <p:nvPr/>
        </p:nvCxnSpPr>
        <p:spPr>
          <a:xfrm flipH="1" flipV="1">
            <a:off x="2049463" y="2111375"/>
            <a:ext cx="358874" cy="228788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115616" y="2780928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27784" y="2708920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59832" y="4339829"/>
            <a:ext cx="85725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/>
              <a:t>num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3568" y="4221088"/>
            <a:ext cx="85725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800" dirty="0"/>
              <a:t>num</a:t>
            </a:r>
          </a:p>
        </p:txBody>
      </p:sp>
      <p:cxnSp>
        <p:nvCxnSpPr>
          <p:cNvPr id="83" name="Straight Connector 19"/>
          <p:cNvCxnSpPr>
            <a:stCxn id="5" idx="0"/>
            <a:endCxn id="82" idx="2"/>
          </p:cNvCxnSpPr>
          <p:nvPr/>
        </p:nvCxnSpPr>
        <p:spPr>
          <a:xfrm flipH="1" flipV="1">
            <a:off x="1112193" y="4744308"/>
            <a:ext cx="663766" cy="970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19"/>
          <p:cNvCxnSpPr>
            <a:stCxn id="65" idx="0"/>
          </p:cNvCxnSpPr>
          <p:nvPr/>
        </p:nvCxnSpPr>
        <p:spPr>
          <a:xfrm flipH="1" flipV="1">
            <a:off x="2481512" y="4797154"/>
            <a:ext cx="61993" cy="936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19"/>
          <p:cNvCxnSpPr>
            <a:stCxn id="80" idx="0"/>
            <a:endCxn id="22" idx="2"/>
          </p:cNvCxnSpPr>
          <p:nvPr/>
        </p:nvCxnSpPr>
        <p:spPr>
          <a:xfrm flipH="1" flipV="1">
            <a:off x="2049463" y="2111375"/>
            <a:ext cx="792634" cy="59754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19"/>
          <p:cNvCxnSpPr>
            <a:stCxn id="82" idx="0"/>
          </p:cNvCxnSpPr>
          <p:nvPr/>
        </p:nvCxnSpPr>
        <p:spPr>
          <a:xfrm flipV="1">
            <a:off x="1112193" y="3573018"/>
            <a:ext cx="217190" cy="648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19"/>
          <p:cNvCxnSpPr>
            <a:stCxn id="81" idx="0"/>
          </p:cNvCxnSpPr>
          <p:nvPr/>
        </p:nvCxnSpPr>
        <p:spPr>
          <a:xfrm flipH="1" flipV="1">
            <a:off x="2987825" y="3501009"/>
            <a:ext cx="500632" cy="838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923928" y="0"/>
            <a:ext cx="428625" cy="5847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/>
              <a:t>S</a:t>
            </a:r>
          </a:p>
        </p:txBody>
      </p:sp>
      <p:cxnSp>
        <p:nvCxnSpPr>
          <p:cNvPr id="111" name="Straight Connector 40"/>
          <p:cNvCxnSpPr>
            <a:stCxn id="101" idx="2"/>
            <a:endCxn id="39" idx="0"/>
          </p:cNvCxnSpPr>
          <p:nvPr/>
        </p:nvCxnSpPr>
        <p:spPr>
          <a:xfrm>
            <a:off x="4138241" y="584775"/>
            <a:ext cx="0" cy="251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362376" y="188640"/>
            <a:ext cx="2161952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3200" b="1" dirty="0"/>
              <a:t>דוגמה 1</a:t>
            </a:r>
            <a:br>
              <a:rPr lang="en-US" sz="3200" b="1" dirty="0"/>
            </a:br>
            <a:r>
              <a:rPr lang="he-IL" sz="3200" b="1" dirty="0"/>
              <a:t>(ביטוי שגוי)</a:t>
            </a:r>
          </a:p>
        </p:txBody>
      </p:sp>
      <p:cxnSp>
        <p:nvCxnSpPr>
          <p:cNvPr id="119" name="Straight Connector 19"/>
          <p:cNvCxnSpPr>
            <a:stCxn id="4" idx="0"/>
            <a:endCxn id="81" idx="2"/>
          </p:cNvCxnSpPr>
          <p:nvPr/>
        </p:nvCxnSpPr>
        <p:spPr>
          <a:xfrm flipV="1">
            <a:off x="3428992" y="4863049"/>
            <a:ext cx="59465" cy="851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23528" y="2420888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43808" y="2348880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13203" y="3181533"/>
            <a:ext cx="15247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 → E1 + E2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0152" y="3563059"/>
            <a:ext cx="3311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E1.target = FALSE; E2.target = FALSE;</a:t>
            </a:r>
            <a:br>
              <a:rPr lang="en-US" sz="1400" dirty="0"/>
            </a:br>
            <a:r>
              <a:rPr lang="en-US" sz="1400" dirty="0"/>
              <a:t>if </a:t>
            </a:r>
            <a:r>
              <a:rPr lang="en-US" sz="1400" dirty="0" err="1"/>
              <a:t>E.target</a:t>
            </a:r>
            <a:r>
              <a:rPr lang="en-US" sz="1400" dirty="0"/>
              <a:t> then </a:t>
            </a:r>
            <a:r>
              <a:rPr lang="en-US" sz="1400" dirty="0">
                <a:solidFill>
                  <a:srgbClr val="FF0000"/>
                </a:solidFill>
              </a:rPr>
              <a:t>error</a:t>
            </a:r>
            <a:r>
              <a:rPr lang="en-US" sz="1400" dirty="0"/>
              <a:t>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9752" y="1340768"/>
            <a:ext cx="1008112" cy="307777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9592" y="1340768"/>
            <a:ext cx="12241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error</a:t>
            </a:r>
            <a:endParaRPr lang="he-IL" b="1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432846" y="928901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=F</a:t>
            </a:r>
          </a:p>
        </p:txBody>
      </p:sp>
    </p:spTree>
    <p:extLst>
      <p:ext uri="{BB962C8B-B14F-4D97-AF65-F5344CB8AC3E}">
        <p14:creationId xmlns:p14="http://schemas.microsoft.com/office/powerpoint/2010/main" val="104468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8" grpId="0"/>
      <p:bldP spid="49" grpId="0"/>
      <p:bldP spid="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14740" y="5727716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71698" y="5727716"/>
            <a:ext cx="551522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7624" y="5864572"/>
            <a:ext cx="571504" cy="64633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3600" dirty="0"/>
              <a:t>:=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9644" y="5745956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0072" y="5157192"/>
            <a:ext cx="93610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ASSIGN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15816" y="2852936"/>
            <a:ext cx="428625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cxnSp>
        <p:nvCxnSpPr>
          <p:cNvPr id="28" name="Straight Connector 27"/>
          <p:cNvCxnSpPr>
            <a:endCxn id="63" idx="0"/>
          </p:cNvCxnSpPr>
          <p:nvPr/>
        </p:nvCxnSpPr>
        <p:spPr>
          <a:xfrm>
            <a:off x="5297414" y="2348880"/>
            <a:ext cx="1398822" cy="280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48064" y="1628800"/>
            <a:ext cx="428625" cy="76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cxnSp>
        <p:nvCxnSpPr>
          <p:cNvPr id="41" name="Straight Connector 40"/>
          <p:cNvCxnSpPr>
            <a:stCxn id="99" idx="2"/>
            <a:endCxn id="52" idx="0"/>
          </p:cNvCxnSpPr>
          <p:nvPr/>
        </p:nvCxnSpPr>
        <p:spPr>
          <a:xfrm flipH="1">
            <a:off x="1619672" y="2038201"/>
            <a:ext cx="1438449" cy="31189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101" idx="2"/>
            <a:endCxn id="31" idx="0"/>
          </p:cNvCxnSpPr>
          <p:nvPr/>
        </p:nvCxnSpPr>
        <p:spPr>
          <a:xfrm>
            <a:off x="4138241" y="584775"/>
            <a:ext cx="1224136" cy="1044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652120" y="1700808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29586" y="5929330"/>
            <a:ext cx="928726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29563" y="4786313"/>
            <a:ext cx="1071562" cy="4000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Lexical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58125" y="1785938"/>
            <a:ext cx="1214438" cy="4000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Syntactic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250" y="366713"/>
            <a:ext cx="1357313" cy="4000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Semantic</a:t>
            </a:r>
          </a:p>
        </p:txBody>
      </p:sp>
      <p:sp>
        <p:nvSpPr>
          <p:cNvPr id="22583" name="Slide Number Placeholder 60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49DFE0E-3B42-4002-AE5C-29C511444423}" type="slidenum">
              <a:rPr lang="he-IL" smtClean="0"/>
              <a:pPr/>
              <a:t>18</a:t>
            </a:fld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2839244" y="5745956"/>
            <a:ext cx="551522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71800" y="5085184"/>
            <a:ext cx="857250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PLUS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75074" y="4008710"/>
            <a:ext cx="428625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87242" y="3936702"/>
            <a:ext cx="428625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23728" y="5051276"/>
            <a:ext cx="504056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/>
              <a:t>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9552" y="5157192"/>
            <a:ext cx="57606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PTR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23928" y="0"/>
            <a:ext cx="428625" cy="5847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/>
              <a:t>E</a:t>
            </a:r>
          </a:p>
        </p:txBody>
      </p:sp>
      <p:cxnSp>
        <p:nvCxnSpPr>
          <p:cNvPr id="111" name="Straight Connector 40"/>
          <p:cNvCxnSpPr>
            <a:stCxn id="101" idx="2"/>
            <a:endCxn id="110" idx="3"/>
          </p:cNvCxnSpPr>
          <p:nvPr/>
        </p:nvCxnSpPr>
        <p:spPr>
          <a:xfrm flipH="1">
            <a:off x="2696369" y="584775"/>
            <a:ext cx="1441872" cy="2667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3347864" y="1556792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=F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75656" y="260648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4128" y="188640"/>
            <a:ext cx="18002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b="1" dirty="0"/>
              <a:t>דוגמה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5428" y="5745956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7076" y="5745956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(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" y="5745956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9992" y="5089376"/>
            <a:ext cx="576064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/>
              <a:t>RP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1640" y="5157192"/>
            <a:ext cx="576064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/>
              <a:t>LP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07904" y="5085184"/>
            <a:ext cx="648072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num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2200" y="5157192"/>
            <a:ext cx="648072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num</a:t>
            </a:r>
          </a:p>
        </p:txBody>
      </p:sp>
      <p:cxnSp>
        <p:nvCxnSpPr>
          <p:cNvPr id="68" name="Straight Connector 27"/>
          <p:cNvCxnSpPr>
            <a:stCxn id="22" idx="2"/>
            <a:endCxn id="79" idx="0"/>
          </p:cNvCxnSpPr>
          <p:nvPr/>
        </p:nvCxnSpPr>
        <p:spPr>
          <a:xfrm flipH="1">
            <a:off x="2389387" y="3622377"/>
            <a:ext cx="740742" cy="3863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מחבר ישר 71"/>
          <p:cNvCxnSpPr>
            <a:stCxn id="22" idx="2"/>
            <a:endCxn id="74" idx="0"/>
          </p:cNvCxnSpPr>
          <p:nvPr/>
        </p:nvCxnSpPr>
        <p:spPr>
          <a:xfrm>
            <a:off x="3130129" y="3622377"/>
            <a:ext cx="70296" cy="146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מחבר ישר 75"/>
          <p:cNvCxnSpPr>
            <a:stCxn id="22" idx="2"/>
            <a:endCxn id="80" idx="0"/>
          </p:cNvCxnSpPr>
          <p:nvPr/>
        </p:nvCxnSpPr>
        <p:spPr>
          <a:xfrm>
            <a:off x="3130129" y="3622377"/>
            <a:ext cx="771426" cy="314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מחבר ישר 77"/>
          <p:cNvCxnSpPr>
            <a:stCxn id="79" idx="2"/>
            <a:endCxn id="81" idx="0"/>
          </p:cNvCxnSpPr>
          <p:nvPr/>
        </p:nvCxnSpPr>
        <p:spPr>
          <a:xfrm flipH="1">
            <a:off x="2375756" y="4778151"/>
            <a:ext cx="13631" cy="273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מחבר ישר 85"/>
          <p:cNvCxnSpPr>
            <a:stCxn id="80" idx="2"/>
            <a:endCxn id="62" idx="0"/>
          </p:cNvCxnSpPr>
          <p:nvPr/>
        </p:nvCxnSpPr>
        <p:spPr>
          <a:xfrm>
            <a:off x="3901555" y="4706143"/>
            <a:ext cx="130385" cy="379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מחבר ישר 87"/>
          <p:cNvCxnSpPr>
            <a:stCxn id="81" idx="2"/>
            <a:endCxn id="5" idx="0"/>
          </p:cNvCxnSpPr>
          <p:nvPr/>
        </p:nvCxnSpPr>
        <p:spPr>
          <a:xfrm flipH="1">
            <a:off x="2347459" y="5451386"/>
            <a:ext cx="28297" cy="276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מחבר ישר 90"/>
          <p:cNvCxnSpPr>
            <a:stCxn id="74" idx="2"/>
            <a:endCxn id="65" idx="0"/>
          </p:cNvCxnSpPr>
          <p:nvPr/>
        </p:nvCxnSpPr>
        <p:spPr>
          <a:xfrm flipH="1">
            <a:off x="3115005" y="5485294"/>
            <a:ext cx="85420" cy="260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מחבר ישר 93"/>
          <p:cNvCxnSpPr>
            <a:stCxn id="62" idx="2"/>
            <a:endCxn id="4" idx="0"/>
          </p:cNvCxnSpPr>
          <p:nvPr/>
        </p:nvCxnSpPr>
        <p:spPr>
          <a:xfrm flipH="1">
            <a:off x="4000492" y="5454516"/>
            <a:ext cx="31448" cy="27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843808" y="1268760"/>
            <a:ext cx="428625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4400" dirty="0"/>
              <a:t>E</a:t>
            </a:r>
          </a:p>
        </p:txBody>
      </p:sp>
      <p:cxnSp>
        <p:nvCxnSpPr>
          <p:cNvPr id="105" name="מחבר ישר 104"/>
          <p:cNvCxnSpPr>
            <a:stCxn id="99" idx="2"/>
            <a:endCxn id="51" idx="0"/>
          </p:cNvCxnSpPr>
          <p:nvPr/>
        </p:nvCxnSpPr>
        <p:spPr>
          <a:xfrm>
            <a:off x="3058121" y="2038201"/>
            <a:ext cx="1729903" cy="3051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מחבר ישר 106"/>
          <p:cNvCxnSpPr>
            <a:stCxn id="99" idx="2"/>
            <a:endCxn id="22" idx="0"/>
          </p:cNvCxnSpPr>
          <p:nvPr/>
        </p:nvCxnSpPr>
        <p:spPr>
          <a:xfrm>
            <a:off x="3058121" y="2038201"/>
            <a:ext cx="72008" cy="814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2267744" y="620688"/>
            <a:ext cx="42862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E</a:t>
            </a:r>
          </a:p>
        </p:txBody>
      </p:sp>
      <p:cxnSp>
        <p:nvCxnSpPr>
          <p:cNvPr id="121" name="מחבר ישר 120"/>
          <p:cNvCxnSpPr>
            <a:stCxn id="101" idx="2"/>
            <a:endCxn id="16" idx="0"/>
          </p:cNvCxnSpPr>
          <p:nvPr/>
        </p:nvCxnSpPr>
        <p:spPr>
          <a:xfrm>
            <a:off x="4138241" y="584775"/>
            <a:ext cx="1549883" cy="45724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מחבר ישר 124"/>
          <p:cNvCxnSpPr>
            <a:stCxn id="110" idx="2"/>
            <a:endCxn id="82" idx="0"/>
          </p:cNvCxnSpPr>
          <p:nvPr/>
        </p:nvCxnSpPr>
        <p:spPr>
          <a:xfrm flipH="1">
            <a:off x="827584" y="1082353"/>
            <a:ext cx="1654473" cy="4074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מחבר ישר 126"/>
          <p:cNvCxnSpPr>
            <a:stCxn id="110" idx="2"/>
            <a:endCxn id="99" idx="0"/>
          </p:cNvCxnSpPr>
          <p:nvPr/>
        </p:nvCxnSpPr>
        <p:spPr>
          <a:xfrm>
            <a:off x="2482057" y="1082353"/>
            <a:ext cx="576064" cy="1864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3419872" y="2852936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=F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483768" y="4653136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=F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211960" y="4437112"/>
            <a:ext cx="1008112" cy="30777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1400" dirty="0" err="1"/>
              <a:t>E.target</a:t>
            </a:r>
            <a:r>
              <a:rPr lang="en-US" sz="1400" dirty="0"/>
              <a:t>=F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51520" y="1340768"/>
            <a:ext cx="187220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Valid expression</a:t>
            </a:r>
            <a:endParaRPr lang="he-IL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715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המשך השאלה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האם יש דרך אחרת לאכוף את הבדיקה הזו?</a:t>
            </a:r>
            <a:br>
              <a:rPr lang="en-US" dirty="0"/>
            </a:br>
            <a:r>
              <a:rPr lang="he-IL" sz="2400" dirty="0"/>
              <a:t>(כי ביטויים הממוקמים בצד שמאל של השמה הם כולם </a:t>
            </a:r>
            <a:r>
              <a:rPr lang="en-US" sz="2400" dirty="0"/>
              <a:t>l-values</a:t>
            </a:r>
            <a:r>
              <a:rPr lang="he-IL" sz="2400" dirty="0"/>
              <a:t>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פתרון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ניתן על ידי </a:t>
            </a:r>
            <a:r>
              <a:rPr lang="he-IL" b="1" dirty="0"/>
              <a:t>שינוי הדקדוק</a:t>
            </a:r>
            <a:r>
              <a:rPr lang="he-IL" dirty="0"/>
              <a:t>:</a:t>
            </a:r>
          </a:p>
          <a:p>
            <a:pPr algn="r" rtl="1"/>
            <a:endParaRPr lang="he-IL" dirty="0"/>
          </a:p>
          <a:p>
            <a:pPr algn="r" rtl="1"/>
            <a:r>
              <a:rPr lang="he-IL" u="sng" dirty="0"/>
              <a:t>הרעיון</a:t>
            </a:r>
            <a:r>
              <a:rPr lang="he-IL" dirty="0"/>
              <a:t>: נשתמש במשתנה גזירה חדש עבור ביטויים שנמצאים ב </a:t>
            </a:r>
            <a:r>
              <a:rPr lang="en-US" dirty="0"/>
              <a:t>LHS</a:t>
            </a:r>
            <a:r>
              <a:rPr lang="he-IL" dirty="0"/>
              <a:t>(צד שמאלי) של השמה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משתנה הגזירה החדש יגזור את מה ש </a:t>
            </a:r>
            <a:r>
              <a:rPr lang="en-US" dirty="0"/>
              <a:t>E</a:t>
            </a:r>
            <a:r>
              <a:rPr lang="he-IL" dirty="0"/>
              <a:t> גוזר פרט לגזירות שמייצרות ביטויים שאינם </a:t>
            </a:r>
            <a:r>
              <a:rPr lang="en-US" dirty="0"/>
              <a:t>l-value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המשך הפתרון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הדקדוק שנקבל: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מלבן 4"/>
          <p:cNvSpPr/>
          <p:nvPr/>
        </p:nvSpPr>
        <p:spPr>
          <a:xfrm>
            <a:off x="2286000" y="2136339"/>
            <a:ext cx="4572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S -&gt; E</a:t>
            </a:r>
          </a:p>
          <a:p>
            <a:r>
              <a:rPr lang="en-US" sz="2800" dirty="0"/>
              <a:t>E -&gt; </a:t>
            </a:r>
            <a:r>
              <a:rPr lang="en-US" sz="2800" b="1" dirty="0"/>
              <a:t>LV</a:t>
            </a:r>
            <a:r>
              <a:rPr lang="en-US" sz="2800" dirty="0"/>
              <a:t> := E</a:t>
            </a:r>
          </a:p>
          <a:p>
            <a:r>
              <a:rPr lang="en-US" sz="2800" dirty="0"/>
              <a:t>E -&gt; E + E</a:t>
            </a:r>
          </a:p>
          <a:p>
            <a:r>
              <a:rPr lang="en-US" sz="2800" dirty="0"/>
              <a:t>E -&gt; ( E )</a:t>
            </a:r>
          </a:p>
          <a:p>
            <a:r>
              <a:rPr lang="en-US" sz="2800" dirty="0"/>
              <a:t>E -&gt; id</a:t>
            </a:r>
          </a:p>
          <a:p>
            <a:r>
              <a:rPr lang="en-US" sz="2800" dirty="0"/>
              <a:t>E -&gt; num</a:t>
            </a:r>
          </a:p>
          <a:p>
            <a:r>
              <a:rPr lang="en-US" sz="2800" dirty="0"/>
              <a:t>E -&gt; * E</a:t>
            </a:r>
          </a:p>
          <a:p>
            <a:r>
              <a:rPr lang="en-US" sz="2800" b="1" dirty="0"/>
              <a:t>LV</a:t>
            </a:r>
            <a:r>
              <a:rPr lang="en-US" sz="2800" dirty="0"/>
              <a:t> -&gt; ( LV )</a:t>
            </a:r>
          </a:p>
          <a:p>
            <a:r>
              <a:rPr lang="en-US" sz="2800" b="1" dirty="0"/>
              <a:t>LV</a:t>
            </a:r>
            <a:r>
              <a:rPr lang="en-US" sz="2800" dirty="0"/>
              <a:t> -&gt; id</a:t>
            </a:r>
          </a:p>
          <a:p>
            <a:r>
              <a:rPr lang="en-US" sz="2800" b="1" dirty="0"/>
              <a:t>LV</a:t>
            </a:r>
            <a:r>
              <a:rPr lang="en-US" sz="2800" dirty="0"/>
              <a:t> -&gt; * E</a:t>
            </a:r>
            <a:endParaRPr lang="he-IL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ניתוח </a:t>
            </a:r>
            <a:r>
              <a:rPr lang="en-US" dirty="0"/>
              <a:t>LR</a:t>
            </a:r>
            <a:r>
              <a:rPr lang="he-IL" dirty="0"/>
              <a:t> </a:t>
            </a:r>
            <a:r>
              <a:rPr lang="he-IL" dirty="0" err="1"/>
              <a:t>ובייזון</a:t>
            </a:r>
            <a:r>
              <a:rPr lang="he-IL" dirty="0"/>
              <a:t>:</a:t>
            </a:r>
            <a:r>
              <a:rPr lang="en-US" dirty="0"/>
              <a:t> </a:t>
            </a:r>
            <a:r>
              <a:rPr lang="he-IL" dirty="0"/>
              <a:t>תזכורת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sz="3600" dirty="0"/>
              <a:t>Bison</a:t>
            </a:r>
            <a:r>
              <a:rPr lang="he-IL" sz="3600" dirty="0"/>
              <a:t> בונה מנתח </a:t>
            </a:r>
            <a:r>
              <a:rPr lang="en-US" sz="3600" dirty="0"/>
              <a:t>Bottom-up</a:t>
            </a:r>
            <a:endParaRPr lang="he-IL" sz="3600" dirty="0"/>
          </a:p>
          <a:p>
            <a:pPr lvl="1" algn="r" rtl="1"/>
            <a:r>
              <a:rPr lang="en-US" sz="3200" dirty="0"/>
              <a:t>reduce</a:t>
            </a:r>
            <a:r>
              <a:rPr lang="he-IL" sz="3200" dirty="0"/>
              <a:t> מוציא מהמחסנית את הילדים</a:t>
            </a:r>
          </a:p>
          <a:p>
            <a:pPr lvl="1" algn="r" rtl="1"/>
            <a:r>
              <a:rPr lang="he-IL" sz="3200" dirty="0"/>
              <a:t>ומכניס למחסנית את המשתנה הנגזר</a:t>
            </a:r>
          </a:p>
          <a:p>
            <a:pPr algn="r" rtl="1"/>
            <a:r>
              <a:rPr lang="he-IL" sz="3600" dirty="0"/>
              <a:t>בשלב הניתוח התחבירי נבנה את עץ הגזירה</a:t>
            </a:r>
          </a:p>
          <a:p>
            <a:pPr algn="r" rtl="1"/>
            <a:r>
              <a:rPr lang="he-IL" sz="3600" dirty="0"/>
              <a:t>בשלב הניתוח הסמנטי נבצע סיור על העץ שיצרנו, בו נגדיר הן תכונות נוצרות והן נורשות.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41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בייזון</a:t>
            </a:r>
            <a:r>
              <a:rPr lang="he-IL" dirty="0"/>
              <a:t>: תזכורת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20000"/>
              </a:lnSpc>
            </a:pPr>
            <a:endParaRPr lang="he-IL" sz="2400" dirty="0"/>
          </a:p>
          <a:p>
            <a:pPr algn="r" rtl="1">
              <a:lnSpc>
                <a:spcPct val="120000"/>
              </a:lnSpc>
            </a:pPr>
            <a:endParaRPr lang="he-IL" sz="2400" dirty="0"/>
          </a:p>
          <a:p>
            <a:pPr algn="r" rtl="1">
              <a:lnSpc>
                <a:spcPct val="120000"/>
              </a:lnSpc>
            </a:pPr>
            <a:r>
              <a:rPr lang="he-IL" sz="2400" dirty="0"/>
              <a:t>גישה לאובייקטים (מסוג </a:t>
            </a:r>
            <a:r>
              <a:rPr lang="en-US" sz="2400" dirty="0"/>
              <a:t>YYSTYPE</a:t>
            </a:r>
            <a:r>
              <a:rPr lang="he-IL" sz="2400" dirty="0"/>
              <a:t>) של משתנים וטרמינלים במחסנית:</a:t>
            </a:r>
          </a:p>
          <a:p>
            <a:pPr lvl="1" algn="r" rtl="1">
              <a:lnSpc>
                <a:spcPct val="120000"/>
              </a:lnSpc>
            </a:pPr>
            <a:r>
              <a:rPr lang="he-IL" sz="2000" dirty="0"/>
              <a:t>$$ - המשתנה המופיע באגף שמאל של החוק</a:t>
            </a:r>
          </a:p>
          <a:p>
            <a:pPr lvl="1" algn="r" rtl="1">
              <a:lnSpc>
                <a:spcPct val="120000"/>
              </a:lnSpc>
            </a:pPr>
            <a:r>
              <a:rPr lang="en-US" sz="2000" dirty="0"/>
              <a:t>n</a:t>
            </a:r>
            <a:r>
              <a:rPr lang="he-IL" sz="2000" dirty="0"/>
              <a:t>$ - (</a:t>
            </a:r>
            <a:r>
              <a:rPr lang="en-US" sz="2000" dirty="0"/>
              <a:t>n&gt;0</a:t>
            </a:r>
            <a:r>
              <a:rPr lang="he-IL" sz="2000" dirty="0"/>
              <a:t>) הסימן ה-</a:t>
            </a:r>
            <a:r>
              <a:rPr lang="en-US" sz="2000" dirty="0"/>
              <a:t>n</a:t>
            </a:r>
            <a:r>
              <a:rPr lang="he-IL" sz="2000" dirty="0"/>
              <a:t> באגף ימין של החוק</a:t>
            </a:r>
          </a:p>
          <a:p>
            <a:pPr lvl="1" algn="r" rtl="1">
              <a:lnSpc>
                <a:spcPct val="120000"/>
              </a:lnSpc>
              <a:buNone/>
            </a:pP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785786" y="4623519"/>
            <a:ext cx="2490070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r>
              <a:rPr lang="en-US" sz="2400" dirty="0">
                <a:sym typeface="Wingdings" pitchFamily="2" charset="2"/>
              </a:rPr>
              <a:t> B C NUM D E</a:t>
            </a:r>
            <a:endParaRPr lang="en-US" sz="24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85786" y="5318145"/>
          <a:ext cx="7602637" cy="9144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905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400" dirty="0"/>
                        <a:t>הסימן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2400" dirty="0"/>
                        <a:t>מתייחס ל-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0B23-FC94-4D57-8C64-BB199D1308C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95536" y="1340768"/>
            <a:ext cx="3743332" cy="13388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A:     B </a:t>
            </a:r>
            <a:r>
              <a:rPr lang="he-IL" dirty="0"/>
              <a:t> </a:t>
            </a:r>
            <a:r>
              <a:rPr lang="en-US" dirty="0"/>
              <a:t>C</a:t>
            </a:r>
            <a:r>
              <a:rPr lang="he-IL" dirty="0"/>
              <a:t> </a:t>
            </a:r>
            <a:r>
              <a:rPr lang="en-US" dirty="0"/>
              <a:t> NUM  D</a:t>
            </a:r>
            <a:r>
              <a:rPr lang="he-IL" dirty="0"/>
              <a:t> </a:t>
            </a:r>
            <a:r>
              <a:rPr lang="en-US" dirty="0"/>
              <a:t>E   {/* action */}</a:t>
            </a:r>
          </a:p>
          <a:p>
            <a:pPr>
              <a:lnSpc>
                <a:spcPct val="150000"/>
              </a:lnSpc>
            </a:pPr>
            <a:r>
              <a:rPr lang="en-US" dirty="0"/>
              <a:t>  |     E  F 	      {/*action*/}</a:t>
            </a:r>
          </a:p>
          <a:p>
            <a:pPr>
              <a:lnSpc>
                <a:spcPct val="150000"/>
              </a:lnSpc>
            </a:pP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63413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r" rtl="1"/>
                <a:r>
                  <a:rPr lang="he-IL" dirty="0"/>
                  <a:t>נתון הדקדוק </a:t>
                </a:r>
                <a:r>
                  <a:rPr lang="he-IL" dirty="0" err="1"/>
                  <a:t>הנל</a:t>
                </a:r>
                <a:r>
                  <a:rPr lang="he-IL" dirty="0"/>
                  <a:t>' שמאפשר הכרזה על משתנים</a:t>
                </a:r>
                <a:endParaRPr lang="en-US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𝐷𝐸𝐶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𝑇𝑦𝑝𝑒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𝐼𝐷</m:t>
                      </m:r>
                    </m:oMath>
                  </m:oMathPara>
                </a14:m>
                <a:endParaRPr lang="en-US" b="0" dirty="0"/>
              </a:p>
              <a:p>
                <a:pPr marL="0" indent="0" algn="l">
                  <a:buNone/>
                </a:pPr>
                <a:r>
                  <a:rPr lang="en-US" b="0" dirty="0"/>
                  <a:t>			ID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𝐼𝐷</m:t>
                    </m:r>
                  </m:oMath>
                </a14:m>
                <a:endParaRPr lang="en-US" dirty="0"/>
              </a:p>
              <a:p>
                <a:pPr marL="0" indent="0" algn="l">
                  <a:buNone/>
                </a:pPr>
                <a:r>
                  <a:rPr lang="en-US" dirty="0"/>
                  <a:t>			Type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int | float</a:t>
                </a:r>
                <a:endParaRPr lang="he-IL" dirty="0"/>
              </a:p>
              <a:p>
                <a:pPr marL="0" indent="0" algn="r" rtl="1">
                  <a:buNone/>
                </a:pPr>
                <a:r>
                  <a:rPr lang="he-IL" dirty="0"/>
                  <a:t>הדקדוק גוזר למשל את המשפט </a:t>
                </a:r>
                <a:r>
                  <a:rPr lang="en-US" dirty="0"/>
                  <a:t>int x , y , z</a:t>
                </a:r>
                <a:r>
                  <a:rPr lang="he-IL" dirty="0"/>
                  <a:t>.</a:t>
                </a:r>
                <a:endParaRPr lang="en-US" dirty="0"/>
              </a:p>
              <a:p>
                <a:pPr marL="0" indent="0" algn="r" rtl="1">
                  <a:buNone/>
                </a:pPr>
                <a:r>
                  <a:rPr lang="he-IL" b="1" dirty="0"/>
                  <a:t>הגדירו את פעולת פונקציות </a:t>
                </a:r>
                <a:r>
                  <a:rPr lang="en-US" b="1" dirty="0"/>
                  <a:t>visit</a:t>
                </a:r>
                <a:r>
                  <a:rPr lang="he-IL" b="1" dirty="0"/>
                  <a:t> למחלקות הצמתים השונות, כך שבסיום סיור על ה </a:t>
                </a:r>
                <a:r>
                  <a:rPr lang="en-US" b="1" dirty="0"/>
                  <a:t>AST</a:t>
                </a:r>
                <a:r>
                  <a:rPr lang="he-IL" b="1" dirty="0"/>
                  <a:t>, כל המשתנים יהיו בטבלת הסמלים. </a:t>
                </a:r>
              </a:p>
            </p:txBody>
          </p:sp>
        </mc:Choice>
        <mc:Fallback xmlns="">
          <p:sp>
            <p:nvSpPr>
              <p:cNvPr id="3" name="מציין מיקום תוכן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022" r="-1852" b="-121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D26C-2724-1C67-C016-CE825E24B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פתרון - נגדיר מחלקות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2B2CB-58C6-2FB1-4A43-9C805D9F0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656" y="1844824"/>
            <a:ext cx="3384376" cy="5789240"/>
          </a:xfrm>
        </p:spPr>
        <p:txBody>
          <a:bodyPr/>
          <a:lstStyle/>
          <a:p>
            <a:r>
              <a:rPr lang="en-US" sz="2800" dirty="0" err="1"/>
              <a:t>Decl</a:t>
            </a:r>
            <a:endParaRPr lang="en-US" sz="2800" dirty="0"/>
          </a:p>
          <a:p>
            <a:pPr lvl="1"/>
            <a:r>
              <a:rPr lang="en-US" sz="2400" dirty="0"/>
              <a:t>Type</a:t>
            </a:r>
          </a:p>
          <a:p>
            <a:pPr lvl="1"/>
            <a:r>
              <a:rPr lang="en-US" sz="2400" dirty="0" err="1"/>
              <a:t>IDVec</a:t>
            </a:r>
            <a:r>
              <a:rPr lang="en-US" sz="2400" dirty="0"/>
              <a:t> </a:t>
            </a:r>
          </a:p>
          <a:p>
            <a:endParaRPr lang="he-IL" sz="2800" dirty="0"/>
          </a:p>
          <a:p>
            <a:r>
              <a:rPr lang="en-US" sz="2800" dirty="0" err="1"/>
              <a:t>IDVec</a:t>
            </a:r>
            <a:endParaRPr lang="en-US" sz="2800" dirty="0"/>
          </a:p>
          <a:p>
            <a:pPr lvl="1"/>
            <a:r>
              <a:rPr lang="en-US" sz="2400" dirty="0"/>
              <a:t>Ids (array of Var)</a:t>
            </a:r>
          </a:p>
          <a:p>
            <a:pPr lvl="1"/>
            <a:r>
              <a:rPr lang="en-US" sz="2400" dirty="0"/>
              <a:t>type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47687-8559-F8B3-67FE-D7E6F621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22BAEEC-3956-421E-FFEB-36E2A1ADEC0B}"/>
              </a:ext>
            </a:extLst>
          </p:cNvPr>
          <p:cNvSpPr txBox="1">
            <a:spLocks/>
          </p:cNvSpPr>
          <p:nvPr/>
        </p:nvSpPr>
        <p:spPr bwMode="auto">
          <a:xfrm>
            <a:off x="6012160" y="1844824"/>
            <a:ext cx="1963771" cy="57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Type</a:t>
            </a:r>
          </a:p>
          <a:p>
            <a:pPr lvl="1"/>
            <a:r>
              <a:rPr lang="en-US" sz="2400" dirty="0"/>
              <a:t>type</a:t>
            </a:r>
          </a:p>
          <a:p>
            <a:endParaRPr lang="he-IL" sz="2800" dirty="0"/>
          </a:p>
          <a:p>
            <a:endParaRPr lang="he-IL" sz="2800" dirty="0"/>
          </a:p>
          <a:p>
            <a:r>
              <a:rPr lang="en-US" sz="2800" dirty="0"/>
              <a:t>Var</a:t>
            </a:r>
          </a:p>
          <a:p>
            <a:pPr lvl="1"/>
            <a:r>
              <a:rPr lang="en-US" sz="2400" dirty="0"/>
              <a:t>name</a:t>
            </a:r>
          </a:p>
          <a:p>
            <a:pPr lvl="1"/>
            <a:r>
              <a:rPr lang="en-US" sz="2400" dirty="0"/>
              <a:t>type</a:t>
            </a:r>
          </a:p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4F1E99-EFEA-13D5-80DF-6F6322CB62CC}"/>
              </a:ext>
            </a:extLst>
          </p:cNvPr>
          <p:cNvSpPr txBox="1"/>
          <p:nvPr/>
        </p:nvSpPr>
        <p:spPr>
          <a:xfrm>
            <a:off x="3563888" y="1372680"/>
            <a:ext cx="280831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Class</a:t>
            </a:r>
          </a:p>
          <a:p>
            <a:pPr lvl="1"/>
            <a:r>
              <a:rPr lang="en-US" dirty="0"/>
              <a:t> - field</a:t>
            </a:r>
            <a:endParaRPr lang="en-US" sz="2800" dirty="0"/>
          </a:p>
          <a:p>
            <a:pPr lvl="1"/>
            <a:r>
              <a:rPr lang="en-US" dirty="0"/>
              <a:t> - field</a:t>
            </a:r>
            <a:r>
              <a:rPr lang="en-US" sz="2800" dirty="0"/>
              <a:t> 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249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6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99C67-E0C9-5891-0F95-49321D41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פתרון- חוקי </a:t>
            </a:r>
            <a:r>
              <a:rPr lang="en-US" dirty="0"/>
              <a:t>bison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1BC0B-9F9B-698D-28CB-65045E1C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8DB3E06-27AA-2B52-DAA1-B2F0E05FABE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23528" y="1340768"/>
                <a:ext cx="8496944" cy="4525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800" dirty="0"/>
                  <a:t>ID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id {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8DB3E06-27AA-2B52-DAA1-B2F0E05FA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1340768"/>
                <a:ext cx="8496944" cy="4525963"/>
              </a:xfrm>
              <a:prstGeom prst="rect">
                <a:avLst/>
              </a:prstGeom>
              <a:blipFill>
                <a:blip r:embed="rId3"/>
                <a:stretch>
                  <a:fillRect l="-129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350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CE86-0B96-FAA0-70C4-DA1597ED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61D5-55FF-D21C-782A-2B45149A8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פתרון- חוקי </a:t>
            </a:r>
            <a:r>
              <a:rPr lang="en-US" dirty="0"/>
              <a:t>bison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D3D21-576C-617B-6849-1F7EF6B3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27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2B0BBCB-3FBF-BEE7-071C-13697762083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23528" y="1340768"/>
                <a:ext cx="8496944" cy="4525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800" dirty="0"/>
                  <a:t>ID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id {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 = new Var(name=$1);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/>
                  <a:t>	        $$ = new </a:t>
                </a:r>
                <a:r>
                  <a:rPr lang="en-US" sz="2800" dirty="0" err="1"/>
                  <a:t>IDVec</a:t>
                </a:r>
                <a:r>
                  <a:rPr lang="en-US" sz="2800" dirty="0"/>
                  <a:t>().add(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);}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2B0BBCB-3FBF-BEE7-071C-136977620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1340768"/>
                <a:ext cx="8496944" cy="4525963"/>
              </a:xfrm>
              <a:prstGeom prst="rect">
                <a:avLst/>
              </a:prstGeom>
              <a:blipFill>
                <a:blip r:embed="rId3"/>
                <a:stretch>
                  <a:fillRect l="-129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C3E47AB-AC6B-D591-44CD-2DDFDD719E45}"/>
              </a:ext>
            </a:extLst>
          </p:cNvPr>
          <p:cNvSpPr txBox="1"/>
          <p:nvPr/>
        </p:nvSpPr>
        <p:spPr>
          <a:xfrm>
            <a:off x="6359860" y="2957418"/>
            <a:ext cx="2520280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Constructor initializing the name field</a:t>
            </a:r>
            <a:endParaRPr lang="en-IL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FF8A19-A79C-EA20-7536-244058A88B8F}"/>
              </a:ext>
            </a:extLst>
          </p:cNvPr>
          <p:cNvCxnSpPr/>
          <p:nvPr/>
        </p:nvCxnSpPr>
        <p:spPr>
          <a:xfrm>
            <a:off x="5220072" y="1988840"/>
            <a:ext cx="1584176" cy="8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6CC9E7B-F06F-6D6D-67CE-A8ABFFEA82C7}"/>
              </a:ext>
            </a:extLst>
          </p:cNvPr>
          <p:cNvSpPr txBox="1"/>
          <p:nvPr/>
        </p:nvSpPr>
        <p:spPr>
          <a:xfrm>
            <a:off x="1907704" y="3933056"/>
            <a:ext cx="2520280" cy="92333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Constructor initializing the ids field, an array of Vars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FC36C7-016F-47B2-1331-D2EEF99B291C}"/>
              </a:ext>
            </a:extLst>
          </p:cNvPr>
          <p:cNvCxnSpPr>
            <a:cxnSpLocks/>
          </p:cNvCxnSpPr>
          <p:nvPr/>
        </p:nvCxnSpPr>
        <p:spPr>
          <a:xfrm flipH="1">
            <a:off x="3203848" y="2739653"/>
            <a:ext cx="144016" cy="1049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219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78B3B-1FEE-76D5-9896-472825603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9B81-1967-F916-0849-52E123B0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פתרון- חוקי </a:t>
            </a:r>
            <a:r>
              <a:rPr lang="en-US" dirty="0"/>
              <a:t>bison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7847E-6C14-9142-2C26-0A21058C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8FBE814-DEEE-5E1A-0494-421EDB36311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23528" y="1340768"/>
                <a:ext cx="8496944" cy="4525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800" dirty="0"/>
                  <a:t>ID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id {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 = new Var(name=$1);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/>
                  <a:t>	        $$ = new </a:t>
                </a:r>
                <a:r>
                  <a:rPr lang="en-US" sz="2800" dirty="0" err="1"/>
                  <a:t>IDVec</a:t>
                </a:r>
                <a:r>
                  <a:rPr lang="en-US" sz="2800" dirty="0"/>
                  <a:t>().add(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);}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/>
                  <a:t>ID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id , ID {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8FBE814-DEEE-5E1A-0494-421EDB363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1340768"/>
                <a:ext cx="8496944" cy="4525963"/>
              </a:xfrm>
              <a:prstGeom prst="rect">
                <a:avLst/>
              </a:prstGeom>
              <a:blipFill>
                <a:blip r:embed="rId3"/>
                <a:stretch>
                  <a:fillRect l="-129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64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6340-1DFB-D322-C2B8-2D8C01DC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3E0FA-1EAF-2323-5BB7-6AA6D864E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פתרון- חוקי </a:t>
            </a:r>
            <a:r>
              <a:rPr lang="en-US" dirty="0"/>
              <a:t>bison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DC38F-2AE4-7366-B7FE-2079F868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29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6ACC369-47FD-4EB7-C95A-0AD721DD2F6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23528" y="1340768"/>
                <a:ext cx="8496944" cy="4525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800" dirty="0"/>
                  <a:t>ID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id {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 = new Var(name=$1);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/>
                  <a:t>	        $$ = new </a:t>
                </a:r>
                <a:r>
                  <a:rPr lang="en-US" sz="2800" dirty="0" err="1"/>
                  <a:t>IDVec</a:t>
                </a:r>
                <a:r>
                  <a:rPr lang="en-US" sz="2800" dirty="0"/>
                  <a:t>().add(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);}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/>
                  <a:t>ID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id , ID {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 = new Var(name=$1);</a:t>
                </a:r>
              </a:p>
              <a:p>
                <a:pPr marL="0" indent="0">
                  <a:lnSpc>
                    <a:spcPct val="150000"/>
                  </a:lnSpc>
                  <a:buFont typeface="Arial" charset="0"/>
                  <a:buNone/>
                </a:pPr>
                <a:r>
                  <a:rPr lang="en-US" sz="2800" dirty="0"/>
                  <a:t>	               $$ = new </a:t>
                </a:r>
                <a:r>
                  <a:rPr lang="en-US" sz="2800" dirty="0" err="1"/>
                  <a:t>IDVec</a:t>
                </a:r>
                <a:r>
                  <a:rPr lang="en-US" sz="2800" dirty="0"/>
                  <a:t>($</a:t>
                </a:r>
                <a:r>
                  <a:rPr lang="he-IL" sz="2800" dirty="0"/>
                  <a:t>3</a:t>
                </a:r>
                <a:r>
                  <a:rPr lang="en-US" sz="2800" dirty="0"/>
                  <a:t>).add(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);}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6ACC369-47FD-4EB7-C95A-0AD721DD2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1340768"/>
                <a:ext cx="8496944" cy="4525963"/>
              </a:xfrm>
              <a:prstGeom prst="rect">
                <a:avLst/>
              </a:prstGeom>
              <a:blipFill>
                <a:blip r:embed="rId3"/>
                <a:stretch>
                  <a:fillRect l="-129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88EAE08-C903-2302-2BA3-0677060CC8B9}"/>
              </a:ext>
            </a:extLst>
          </p:cNvPr>
          <p:cNvSpPr txBox="1"/>
          <p:nvPr/>
        </p:nvSpPr>
        <p:spPr>
          <a:xfrm>
            <a:off x="2123728" y="5277533"/>
            <a:ext cx="2520280" cy="92333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Copy constructor, initializing </a:t>
            </a:r>
            <a:r>
              <a:rPr lang="en-US" dirty="0" err="1"/>
              <a:t>IDVec</a:t>
            </a:r>
            <a:r>
              <a:rPr lang="en-US" dirty="0"/>
              <a:t> from another </a:t>
            </a:r>
            <a:r>
              <a:rPr lang="en-US" dirty="0" err="1"/>
              <a:t>IDVec</a:t>
            </a:r>
            <a:endParaRPr lang="en-IL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49AC25D-C807-9442-A215-FEF7AA353C27}"/>
              </a:ext>
            </a:extLst>
          </p:cNvPr>
          <p:cNvCxnSpPr>
            <a:cxnSpLocks/>
          </p:cNvCxnSpPr>
          <p:nvPr/>
        </p:nvCxnSpPr>
        <p:spPr>
          <a:xfrm flipH="1">
            <a:off x="3923928" y="4149080"/>
            <a:ext cx="648072" cy="100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C9EE62-DE20-EB7A-B228-4FE7D727BE1A}"/>
              </a:ext>
            </a:extLst>
          </p:cNvPr>
          <p:cNvSpPr txBox="1"/>
          <p:nvPr/>
        </p:nvSpPr>
        <p:spPr>
          <a:xfrm>
            <a:off x="6300192" y="5277533"/>
            <a:ext cx="2520280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Adding a Var to the ids list</a:t>
            </a:r>
            <a:endParaRPr lang="en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6C2452-24C9-BBE3-376F-85C5A506C42E}"/>
              </a:ext>
            </a:extLst>
          </p:cNvPr>
          <p:cNvCxnSpPr>
            <a:cxnSpLocks/>
          </p:cNvCxnSpPr>
          <p:nvPr/>
        </p:nvCxnSpPr>
        <p:spPr>
          <a:xfrm>
            <a:off x="6516216" y="4219775"/>
            <a:ext cx="936104" cy="1000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594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E6F73-13A5-E2E0-A200-73A83407B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7227-9396-013B-744B-B7B4CE2E3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פתרון- חוקי </a:t>
            </a:r>
            <a:r>
              <a:rPr lang="en-US" dirty="0"/>
              <a:t>bison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A79EF-1B16-059F-267D-0E910397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30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52F05A8-F73A-A277-0916-63B93133C4C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23528" y="1340768"/>
                <a:ext cx="8496944" cy="4525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800" dirty="0"/>
                  <a:t>ID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id {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 = new Var(name=$1);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/>
                  <a:t>	        $$ = new </a:t>
                </a:r>
                <a:r>
                  <a:rPr lang="en-US" sz="2800" dirty="0" err="1"/>
                  <a:t>IDVec</a:t>
                </a:r>
                <a:r>
                  <a:rPr lang="en-US" sz="2800" dirty="0"/>
                  <a:t>().add(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);}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/>
                  <a:t>ID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id , ID {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 = new Var(name=$1);</a:t>
                </a:r>
              </a:p>
              <a:p>
                <a:pPr marL="0" indent="0">
                  <a:lnSpc>
                    <a:spcPct val="150000"/>
                  </a:lnSpc>
                  <a:buFont typeface="Arial" charset="0"/>
                  <a:buNone/>
                </a:pPr>
                <a:r>
                  <a:rPr lang="en-US" sz="2800" dirty="0"/>
                  <a:t>	               $$ = new </a:t>
                </a:r>
                <a:r>
                  <a:rPr lang="en-US" sz="2800" dirty="0" err="1"/>
                  <a:t>IDVec</a:t>
                </a:r>
                <a:r>
                  <a:rPr lang="en-US" sz="2800" dirty="0"/>
                  <a:t>($</a:t>
                </a:r>
                <a:r>
                  <a:rPr lang="he-IL" sz="2800" dirty="0"/>
                  <a:t>3</a:t>
                </a:r>
                <a:r>
                  <a:rPr lang="en-US" sz="2800" dirty="0"/>
                  <a:t>).add(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);}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 err="1"/>
                  <a:t>Decl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Type ID {</a:t>
                </a:r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52F05A8-F73A-A277-0916-63B93133C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1340768"/>
                <a:ext cx="8496944" cy="4525963"/>
              </a:xfrm>
              <a:prstGeom prst="rect">
                <a:avLst/>
              </a:prstGeom>
              <a:blipFill>
                <a:blip r:embed="rId2"/>
                <a:stretch>
                  <a:fillRect l="-129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40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39DB9-9ACD-CED0-2799-388F32AA5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8312-4AF3-CFC4-E0C7-DF94CB4A7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פתרון- חוקי </a:t>
            </a:r>
            <a:r>
              <a:rPr lang="en-US" dirty="0"/>
              <a:t>bison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0EB5C-C581-E2BB-1F8D-75C0960F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59A8172-6BB8-6625-EB83-631793BFB0D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23528" y="1340768"/>
                <a:ext cx="8496944" cy="4525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sz="2800" dirty="0"/>
                  <a:t>ID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id {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 = new Var(name=$1);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/>
                  <a:t>	        $$ = new </a:t>
                </a:r>
                <a:r>
                  <a:rPr lang="en-US" sz="2800" dirty="0" err="1"/>
                  <a:t>IDVec</a:t>
                </a:r>
                <a:r>
                  <a:rPr lang="en-US" sz="2800" dirty="0"/>
                  <a:t>().add(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);}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/>
                  <a:t>ID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id , ID {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 = new Var(name=$1);</a:t>
                </a:r>
              </a:p>
              <a:p>
                <a:pPr marL="0" indent="0">
                  <a:lnSpc>
                    <a:spcPct val="150000"/>
                  </a:lnSpc>
                  <a:buFont typeface="Arial" charset="0"/>
                  <a:buNone/>
                </a:pPr>
                <a:r>
                  <a:rPr lang="en-US" sz="2800" dirty="0"/>
                  <a:t>	               $$ = new </a:t>
                </a:r>
                <a:r>
                  <a:rPr lang="en-US" sz="2800" dirty="0" err="1"/>
                  <a:t>IDVec</a:t>
                </a:r>
                <a:r>
                  <a:rPr lang="en-US" sz="2800" dirty="0"/>
                  <a:t>($</a:t>
                </a:r>
                <a:r>
                  <a:rPr lang="he-IL" sz="2800" dirty="0"/>
                  <a:t>3</a:t>
                </a:r>
                <a:r>
                  <a:rPr lang="en-US" sz="2800" dirty="0"/>
                  <a:t>).add(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);}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 err="1"/>
                  <a:t>Decl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Type ID {$$ = new </a:t>
                </a:r>
                <a:r>
                  <a:rPr lang="en-US" sz="2800" dirty="0" err="1"/>
                  <a:t>Decl</a:t>
                </a:r>
                <a:r>
                  <a:rPr lang="en-US" sz="2800" dirty="0"/>
                  <a:t>($1, $2);}</a:t>
                </a:r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59A8172-6BB8-6625-EB83-631793BFB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1340768"/>
                <a:ext cx="8496944" cy="4525963"/>
              </a:xfrm>
              <a:prstGeom prst="rect">
                <a:avLst/>
              </a:prstGeom>
              <a:blipFill>
                <a:blip r:embed="rId2"/>
                <a:stretch>
                  <a:fillRect l="-129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C81CC8B-20EB-864F-3B91-13A48A7564E2}"/>
              </a:ext>
            </a:extLst>
          </p:cNvPr>
          <p:cNvSpPr txBox="1"/>
          <p:nvPr/>
        </p:nvSpPr>
        <p:spPr>
          <a:xfrm>
            <a:off x="1763688" y="5661248"/>
            <a:ext cx="2520280" cy="92333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Constructor initializing the Type and </a:t>
            </a:r>
            <a:r>
              <a:rPr lang="en-US" dirty="0" err="1"/>
              <a:t>IDVec</a:t>
            </a:r>
            <a:r>
              <a:rPr lang="en-US" dirty="0"/>
              <a:t> fields</a:t>
            </a:r>
            <a:endParaRPr lang="en-IL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904F0E9-DB48-5DE8-BE51-3FE4A5064C81}"/>
              </a:ext>
            </a:extLst>
          </p:cNvPr>
          <p:cNvCxnSpPr>
            <a:cxnSpLocks/>
          </p:cNvCxnSpPr>
          <p:nvPr/>
        </p:nvCxnSpPr>
        <p:spPr>
          <a:xfrm flipH="1">
            <a:off x="3635896" y="4869160"/>
            <a:ext cx="108012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2395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A7219-456B-9EC2-CEE7-EA6D86AB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1879-E95C-0B79-8353-34DA2A7E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פתרון- חוקי </a:t>
            </a:r>
            <a:r>
              <a:rPr lang="en-US" dirty="0"/>
              <a:t>bison</a:t>
            </a:r>
            <a:endParaRPr lang="LID4096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8FCF8A-3C1B-B8D1-9CFE-BBB45F6891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3528" y="1340768"/>
                <a:ext cx="8496944" cy="4525963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/>
                  <a:t>ID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id {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 = new Var(name=$1);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800" dirty="0"/>
                  <a:t>	        $$ = new </a:t>
                </a:r>
                <a:r>
                  <a:rPr lang="en-US" sz="2800" dirty="0" err="1"/>
                  <a:t>IDVec</a:t>
                </a:r>
                <a:r>
                  <a:rPr lang="en-US" sz="2800" dirty="0"/>
                  <a:t>().add(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);}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/>
                  <a:t>ID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id , ID {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 = new Var(name=$1);</a:t>
                </a:r>
              </a:p>
              <a:p>
                <a:pPr marL="0" indent="0">
                  <a:lnSpc>
                    <a:spcPct val="150000"/>
                  </a:lnSpc>
                  <a:buFont typeface="Arial" charset="0"/>
                  <a:buNone/>
                </a:pPr>
                <a:r>
                  <a:rPr lang="en-US" sz="2800" dirty="0"/>
                  <a:t>	               $$ = new </a:t>
                </a:r>
                <a:r>
                  <a:rPr lang="en-US" sz="2800" dirty="0" err="1"/>
                  <a:t>IDVec</a:t>
                </a:r>
                <a:r>
                  <a:rPr lang="en-US" sz="2800" dirty="0"/>
                  <a:t>($</a:t>
                </a:r>
                <a:r>
                  <a:rPr lang="he-IL" sz="2800" dirty="0"/>
                  <a:t>3</a:t>
                </a:r>
                <a:r>
                  <a:rPr lang="en-US" sz="2800" dirty="0"/>
                  <a:t>).add(</a:t>
                </a:r>
                <a:r>
                  <a:rPr lang="en-US" sz="2800" dirty="0" err="1"/>
                  <a:t>the_var</a:t>
                </a:r>
                <a:r>
                  <a:rPr lang="en-US" sz="2800" dirty="0"/>
                  <a:t>);}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 err="1"/>
                  <a:t>Decl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Type ID {$$ = new </a:t>
                </a:r>
                <a:r>
                  <a:rPr lang="en-US" sz="2800" dirty="0" err="1"/>
                  <a:t>Decl</a:t>
                </a:r>
                <a:r>
                  <a:rPr lang="en-US" sz="2800" dirty="0"/>
                  <a:t>($1, $2);}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/>
                  <a:t>Type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int {$$ = new Type(“int”);}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/>
                  <a:t>Type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 dirty="0"/>
                  <a:t> float {$$ = new Type(“float”);}</a:t>
                </a:r>
                <a:endParaRPr lang="en-US" dirty="0"/>
              </a:p>
              <a:p>
                <a:endParaRPr lang="LID4096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8FCF8A-3C1B-B8D1-9CFE-BBB45F6891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340768"/>
                <a:ext cx="8496944" cy="4525963"/>
              </a:xfrm>
              <a:blipFill>
                <a:blip r:embed="rId3"/>
                <a:stretch>
                  <a:fillRect l="-1291" b="-1482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BDAD1-3047-5C38-8A57-30B0CAB5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6E65C-3136-F66F-1BD0-7ED73EB47481}"/>
              </a:ext>
            </a:extLst>
          </p:cNvPr>
          <p:cNvSpPr txBox="1"/>
          <p:nvPr/>
        </p:nvSpPr>
        <p:spPr>
          <a:xfrm>
            <a:off x="6553200" y="5220400"/>
            <a:ext cx="2520280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Constructor initializing the type field</a:t>
            </a:r>
            <a:endParaRPr lang="en-IL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5E263D-0C1C-BFCB-C39A-97A18604764B}"/>
              </a:ext>
            </a:extLst>
          </p:cNvPr>
          <p:cNvCxnSpPr>
            <a:cxnSpLocks/>
          </p:cNvCxnSpPr>
          <p:nvPr/>
        </p:nvCxnSpPr>
        <p:spPr>
          <a:xfrm>
            <a:off x="5796136" y="5342037"/>
            <a:ext cx="648072" cy="103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7022FB-4180-2900-7E63-8EE1B78F9100}"/>
              </a:ext>
            </a:extLst>
          </p:cNvPr>
          <p:cNvCxnSpPr>
            <a:cxnSpLocks/>
          </p:cNvCxnSpPr>
          <p:nvPr/>
        </p:nvCxnSpPr>
        <p:spPr>
          <a:xfrm flipV="1">
            <a:off x="5652120" y="5604384"/>
            <a:ext cx="792088" cy="266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070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71728" y="239088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8686" y="239088"/>
            <a:ext cx="1143008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 err="1"/>
              <a:t>int</a:t>
            </a:r>
            <a:endParaRPr lang="en-US" sz="4400" dirty="0"/>
          </a:p>
        </p:txBody>
      </p:sp>
      <p:sp>
        <p:nvSpPr>
          <p:cNvPr id="8" name="TextBox 7"/>
          <p:cNvSpPr txBox="1"/>
          <p:nvPr/>
        </p:nvSpPr>
        <p:spPr>
          <a:xfrm>
            <a:off x="3900422" y="239088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7678" y="239088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57810" y="239088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5066" y="239088"/>
            <a:ext cx="571504" cy="76944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4400" dirty="0"/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5079" y="3378264"/>
            <a:ext cx="137953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3259" y="4939350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0347" y="3267139"/>
            <a:ext cx="1655293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 err="1"/>
              <a:t>IDVec</a:t>
            </a:r>
            <a:endParaRPr lang="en-US" sz="4400" dirty="0"/>
          </a:p>
        </p:txBody>
      </p:sp>
      <p:cxnSp>
        <p:nvCxnSpPr>
          <p:cNvPr id="27" name="Straight Connector 26"/>
          <p:cNvCxnSpPr>
            <a:cxnSpLocks/>
            <a:stCxn id="24" idx="2"/>
            <a:endCxn id="19" idx="0"/>
          </p:cNvCxnSpPr>
          <p:nvPr/>
        </p:nvCxnSpPr>
        <p:spPr>
          <a:xfrm flipH="1">
            <a:off x="4973009" y="4036580"/>
            <a:ext cx="1244985" cy="902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071775" y="2401540"/>
            <a:ext cx="1279671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 err="1"/>
              <a:t>Decl</a:t>
            </a:r>
            <a:endParaRPr lang="en-US" sz="4400" dirty="0"/>
          </a:p>
        </p:txBody>
      </p:sp>
      <p:cxnSp>
        <p:nvCxnSpPr>
          <p:cNvPr id="29" name="Straight Connector 28"/>
          <p:cNvCxnSpPr>
            <a:cxnSpLocks/>
            <a:stCxn id="28" idx="1"/>
            <a:endCxn id="18" idx="0"/>
          </p:cNvCxnSpPr>
          <p:nvPr/>
        </p:nvCxnSpPr>
        <p:spPr>
          <a:xfrm flipH="1">
            <a:off x="2044849" y="2786261"/>
            <a:ext cx="1026926" cy="592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cxnSpLocks/>
            <a:stCxn id="28" idx="3"/>
            <a:endCxn id="24" idx="0"/>
          </p:cNvCxnSpPr>
          <p:nvPr/>
        </p:nvCxnSpPr>
        <p:spPr>
          <a:xfrm>
            <a:off x="4351446" y="2786261"/>
            <a:ext cx="1866548" cy="48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58074" y="453402"/>
            <a:ext cx="928726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074" y="1772491"/>
            <a:ext cx="1214438" cy="4000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Syntactic</a:t>
            </a:r>
          </a:p>
        </p:txBody>
      </p:sp>
      <p:sp>
        <p:nvSpPr>
          <p:cNvPr id="45" name="Slide Number Placeholder 60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349DFE0E-3B42-4002-AE5C-29C511444423}" type="slidenum">
              <a:rPr lang="he-IL" smtClean="0"/>
              <a:pPr/>
              <a:t>33</a:t>
            </a:fld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0705638-08C2-7FF4-08D3-46C14D853822}"/>
              </a:ext>
            </a:extLst>
          </p:cNvPr>
          <p:cNvCxnSpPr>
            <a:cxnSpLocks/>
            <a:stCxn id="24" idx="2"/>
            <a:endCxn id="60" idx="0"/>
          </p:cNvCxnSpPr>
          <p:nvPr/>
        </p:nvCxnSpPr>
        <p:spPr>
          <a:xfrm flipH="1">
            <a:off x="6211843" y="4036580"/>
            <a:ext cx="6151" cy="902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1F1292C-1985-86D5-60E1-6D35F459AB9C}"/>
              </a:ext>
            </a:extLst>
          </p:cNvPr>
          <p:cNvCxnSpPr>
            <a:cxnSpLocks/>
            <a:stCxn id="24" idx="2"/>
            <a:endCxn id="62" idx="0"/>
          </p:cNvCxnSpPr>
          <p:nvPr/>
        </p:nvCxnSpPr>
        <p:spPr>
          <a:xfrm>
            <a:off x="6217994" y="4036580"/>
            <a:ext cx="1254847" cy="9027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7508493-1970-7AC0-6098-D014304D95DD}"/>
              </a:ext>
            </a:extLst>
          </p:cNvPr>
          <p:cNvSpPr txBox="1"/>
          <p:nvPr/>
        </p:nvSpPr>
        <p:spPr>
          <a:xfrm>
            <a:off x="5672093" y="4939350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1CBD6A-0BA1-A97A-6594-63EAE5FC84DF}"/>
              </a:ext>
            </a:extLst>
          </p:cNvPr>
          <p:cNvSpPr txBox="1"/>
          <p:nvPr/>
        </p:nvSpPr>
        <p:spPr>
          <a:xfrm>
            <a:off x="6933091" y="4939349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0F3730B-F9D8-A5BF-41FE-9C3C3C18DE4C}"/>
              </a:ext>
            </a:extLst>
          </p:cNvPr>
          <p:cNvSpPr/>
          <p:nvPr/>
        </p:nvSpPr>
        <p:spPr>
          <a:xfrm>
            <a:off x="3900422" y="1124744"/>
            <a:ext cx="743586" cy="786555"/>
          </a:xfrm>
          <a:prstGeom prst="down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4" grpId="0" animBg="1"/>
      <p:bldP spid="28" grpId="0" animBg="1"/>
      <p:bldP spid="60" grpId="0" animBg="1"/>
      <p:bldP spid="6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6734F-2B1C-2924-3AFA-47EF9370B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D45BB3D-C27A-C060-6155-9342CD024533}"/>
              </a:ext>
            </a:extLst>
          </p:cNvPr>
          <p:cNvSpPr txBox="1"/>
          <p:nvPr/>
        </p:nvSpPr>
        <p:spPr>
          <a:xfrm>
            <a:off x="1847192" y="2461508"/>
            <a:ext cx="137953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Type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700C4-BB02-7760-49F7-71EB0FEE4F46}"/>
              </a:ext>
            </a:extLst>
          </p:cNvPr>
          <p:cNvSpPr txBox="1"/>
          <p:nvPr/>
        </p:nvSpPr>
        <p:spPr>
          <a:xfrm>
            <a:off x="4925372" y="4022594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CB6F2B-BB04-FEA4-253A-734EEAE41C6B}"/>
              </a:ext>
            </a:extLst>
          </p:cNvPr>
          <p:cNvSpPr txBox="1"/>
          <p:nvPr/>
        </p:nvSpPr>
        <p:spPr>
          <a:xfrm>
            <a:off x="5882460" y="2350383"/>
            <a:ext cx="1655293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 err="1"/>
              <a:t>IDVec</a:t>
            </a:r>
            <a:endParaRPr lang="en-US" sz="4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5DC5DAB-61F5-3FD7-14A0-455DFBE3D40C}"/>
              </a:ext>
            </a:extLst>
          </p:cNvPr>
          <p:cNvCxnSpPr>
            <a:cxnSpLocks/>
            <a:stCxn id="24" idx="2"/>
            <a:endCxn id="19" idx="0"/>
          </p:cNvCxnSpPr>
          <p:nvPr/>
        </p:nvCxnSpPr>
        <p:spPr>
          <a:xfrm flipH="1">
            <a:off x="5465122" y="3119824"/>
            <a:ext cx="1244985" cy="902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1E331C9-18A8-0C2A-B634-3EBB364C9851}"/>
              </a:ext>
            </a:extLst>
          </p:cNvPr>
          <p:cNvSpPr txBox="1"/>
          <p:nvPr/>
        </p:nvSpPr>
        <p:spPr>
          <a:xfrm>
            <a:off x="3563888" y="1484784"/>
            <a:ext cx="1279671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 err="1"/>
              <a:t>Decl</a:t>
            </a:r>
            <a:endParaRPr lang="en-US" sz="44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5D79765-61E6-8231-F112-A11AA34BEEE5}"/>
              </a:ext>
            </a:extLst>
          </p:cNvPr>
          <p:cNvCxnSpPr>
            <a:cxnSpLocks/>
            <a:stCxn id="28" idx="1"/>
            <a:endCxn id="18" idx="0"/>
          </p:cNvCxnSpPr>
          <p:nvPr/>
        </p:nvCxnSpPr>
        <p:spPr>
          <a:xfrm flipH="1">
            <a:off x="2536962" y="1869505"/>
            <a:ext cx="1026926" cy="592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063B7B-F896-E87C-2A1F-E1CD693ADC49}"/>
              </a:ext>
            </a:extLst>
          </p:cNvPr>
          <p:cNvCxnSpPr>
            <a:cxnSpLocks/>
            <a:stCxn id="28" idx="3"/>
            <a:endCxn id="24" idx="0"/>
          </p:cNvCxnSpPr>
          <p:nvPr/>
        </p:nvCxnSpPr>
        <p:spPr>
          <a:xfrm>
            <a:off x="4843559" y="1869505"/>
            <a:ext cx="1866548" cy="48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06E51C7-1B84-3516-C5AC-361BEC6F0E81}"/>
              </a:ext>
            </a:extLst>
          </p:cNvPr>
          <p:cNvSpPr txBox="1"/>
          <p:nvPr/>
        </p:nvSpPr>
        <p:spPr>
          <a:xfrm>
            <a:off x="7647232" y="766748"/>
            <a:ext cx="1214438" cy="4000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Syntactic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0B8D09-1129-478C-2E93-9035DB9B7919}"/>
              </a:ext>
            </a:extLst>
          </p:cNvPr>
          <p:cNvSpPr txBox="1"/>
          <p:nvPr/>
        </p:nvSpPr>
        <p:spPr>
          <a:xfrm>
            <a:off x="7676421" y="260648"/>
            <a:ext cx="1357313" cy="4000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Semantic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6A4A23-6765-334E-D271-78D0E769811E}"/>
              </a:ext>
            </a:extLst>
          </p:cNvPr>
          <p:cNvSpPr txBox="1"/>
          <p:nvPr/>
        </p:nvSpPr>
        <p:spPr>
          <a:xfrm>
            <a:off x="295268" y="2661562"/>
            <a:ext cx="115717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type=“int”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6006C9-5EA3-6D07-05C7-8CB56B469228}"/>
              </a:ext>
            </a:extLst>
          </p:cNvPr>
          <p:cNvSpPr txBox="1"/>
          <p:nvPr/>
        </p:nvSpPr>
        <p:spPr>
          <a:xfrm>
            <a:off x="4911865" y="4887635"/>
            <a:ext cx="1051891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name=‘a’</a:t>
            </a:r>
          </a:p>
          <a:p>
            <a:r>
              <a:rPr lang="en-US" dirty="0"/>
              <a:t>type=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64AAF6-DFF7-8A0B-F01B-2B34148B1074}"/>
              </a:ext>
            </a:extLst>
          </p:cNvPr>
          <p:cNvSpPr txBox="1"/>
          <p:nvPr/>
        </p:nvSpPr>
        <p:spPr>
          <a:xfrm>
            <a:off x="7676164" y="2411938"/>
            <a:ext cx="1138453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type=</a:t>
            </a:r>
          </a:p>
          <a:p>
            <a:r>
              <a:rPr lang="en-US" dirty="0"/>
              <a:t>ids=[  ,  ,  ]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BAE0AD7-3B7E-916A-E27B-5FAF3EB43B6A}"/>
              </a:ext>
            </a:extLst>
          </p:cNvPr>
          <p:cNvCxnSpPr>
            <a:cxnSpLocks/>
            <a:stCxn id="24" idx="2"/>
            <a:endCxn id="60" idx="0"/>
          </p:cNvCxnSpPr>
          <p:nvPr/>
        </p:nvCxnSpPr>
        <p:spPr>
          <a:xfrm flipH="1">
            <a:off x="6703956" y="3119824"/>
            <a:ext cx="6151" cy="902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AA6403F-527D-6CAA-B8A5-84E8EC0C856A}"/>
              </a:ext>
            </a:extLst>
          </p:cNvPr>
          <p:cNvCxnSpPr>
            <a:cxnSpLocks/>
            <a:stCxn id="24" idx="2"/>
            <a:endCxn id="62" idx="0"/>
          </p:cNvCxnSpPr>
          <p:nvPr/>
        </p:nvCxnSpPr>
        <p:spPr>
          <a:xfrm>
            <a:off x="6710107" y="3119824"/>
            <a:ext cx="1254847" cy="9027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89E2ACB-3935-0CDB-9124-83599DBA1024}"/>
              </a:ext>
            </a:extLst>
          </p:cNvPr>
          <p:cNvSpPr txBox="1"/>
          <p:nvPr/>
        </p:nvSpPr>
        <p:spPr>
          <a:xfrm>
            <a:off x="6164206" y="4022594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313BCD-46AC-A48F-B07D-A3840BCD6BF3}"/>
              </a:ext>
            </a:extLst>
          </p:cNvPr>
          <p:cNvSpPr txBox="1"/>
          <p:nvPr/>
        </p:nvSpPr>
        <p:spPr>
          <a:xfrm>
            <a:off x="7425204" y="4022593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75872-0992-F4F9-0487-EF3069188E65}"/>
              </a:ext>
            </a:extLst>
          </p:cNvPr>
          <p:cNvSpPr txBox="1"/>
          <p:nvPr/>
        </p:nvSpPr>
        <p:spPr>
          <a:xfrm>
            <a:off x="6194105" y="4887634"/>
            <a:ext cx="106311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name=‘b’</a:t>
            </a:r>
          </a:p>
          <a:p>
            <a:r>
              <a:rPr lang="en-US" dirty="0"/>
              <a:t>type=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941E5-F789-1AE5-F965-F0E251CF7F96}"/>
              </a:ext>
            </a:extLst>
          </p:cNvPr>
          <p:cNvSpPr txBox="1"/>
          <p:nvPr/>
        </p:nvSpPr>
        <p:spPr>
          <a:xfrm>
            <a:off x="7476345" y="4887635"/>
            <a:ext cx="1028358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name=‘c’</a:t>
            </a:r>
          </a:p>
          <a:p>
            <a:r>
              <a:rPr lang="en-US" dirty="0"/>
              <a:t>type=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5DF1F-F584-05F6-56F2-3AF4E0C28338}"/>
              </a:ext>
            </a:extLst>
          </p:cNvPr>
          <p:cNvSpPr txBox="1"/>
          <p:nvPr/>
        </p:nvSpPr>
        <p:spPr>
          <a:xfrm>
            <a:off x="3625135" y="733934"/>
            <a:ext cx="830933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Type=</a:t>
            </a:r>
          </a:p>
          <a:p>
            <a:r>
              <a:rPr lang="en-US" dirty="0" err="1"/>
              <a:t>IDVec</a:t>
            </a:r>
            <a:r>
              <a:rPr lang="en-US" dirty="0"/>
              <a:t>=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0329C0DA-8658-8A0B-012D-DD8F65531965}"/>
              </a:ext>
            </a:extLst>
          </p:cNvPr>
          <p:cNvCxnSpPr>
            <a:cxnSpLocks/>
          </p:cNvCxnSpPr>
          <p:nvPr/>
        </p:nvCxnSpPr>
        <p:spPr>
          <a:xfrm rot="5400000">
            <a:off x="2241062" y="938516"/>
            <a:ext cx="1496639" cy="1437047"/>
          </a:xfrm>
          <a:prstGeom prst="bentConnector3">
            <a:avLst>
              <a:gd name="adj1" fmla="val -677"/>
            </a:avLst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0248B4C-20EB-10DD-EA94-701BDA7D24C8}"/>
              </a:ext>
            </a:extLst>
          </p:cNvPr>
          <p:cNvCxnSpPr/>
          <p:nvPr/>
        </p:nvCxnSpPr>
        <p:spPr>
          <a:xfrm>
            <a:off x="4355976" y="1196752"/>
            <a:ext cx="2347980" cy="1057473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6344E35-64B6-0A2E-EA14-3703ED4ECABE}"/>
              </a:ext>
            </a:extLst>
          </p:cNvPr>
          <p:cNvCxnSpPr/>
          <p:nvPr/>
        </p:nvCxnSpPr>
        <p:spPr>
          <a:xfrm flipH="1">
            <a:off x="5882460" y="2924944"/>
            <a:ext cx="2361948" cy="100811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D593F94-2EA7-0837-E227-976AF16A801F}"/>
              </a:ext>
            </a:extLst>
          </p:cNvPr>
          <p:cNvCxnSpPr>
            <a:cxnSpLocks/>
          </p:cNvCxnSpPr>
          <p:nvPr/>
        </p:nvCxnSpPr>
        <p:spPr>
          <a:xfrm flipH="1">
            <a:off x="7020272" y="2924944"/>
            <a:ext cx="1434009" cy="100811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2E1E2EA-A24C-D4E3-1813-BB150D5E1266}"/>
              </a:ext>
            </a:extLst>
          </p:cNvPr>
          <p:cNvCxnSpPr/>
          <p:nvPr/>
        </p:nvCxnSpPr>
        <p:spPr>
          <a:xfrm flipH="1">
            <a:off x="8100392" y="2924944"/>
            <a:ext cx="504056" cy="100811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27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7" grpId="0" animBg="1"/>
      <p:bldP spid="61" grpId="0" animBg="1"/>
      <p:bldP spid="7" grpId="0" animBg="1"/>
      <p:bldP spid="12" grpId="0" animBg="1"/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63E4F-9F47-D866-60B1-927C1419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BC78A56-B8AF-01FE-7CA5-AB89C0CEE9A0}"/>
              </a:ext>
            </a:extLst>
          </p:cNvPr>
          <p:cNvSpPr txBox="1"/>
          <p:nvPr/>
        </p:nvSpPr>
        <p:spPr>
          <a:xfrm>
            <a:off x="1847192" y="2461508"/>
            <a:ext cx="137953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Type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FA4114-8F79-EDE6-FE1C-D286914ECE94}"/>
              </a:ext>
            </a:extLst>
          </p:cNvPr>
          <p:cNvSpPr txBox="1"/>
          <p:nvPr/>
        </p:nvSpPr>
        <p:spPr>
          <a:xfrm>
            <a:off x="4925372" y="4022594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FB0A32-D733-AACF-3171-28C1FC881CDA}"/>
              </a:ext>
            </a:extLst>
          </p:cNvPr>
          <p:cNvSpPr txBox="1"/>
          <p:nvPr/>
        </p:nvSpPr>
        <p:spPr>
          <a:xfrm>
            <a:off x="5882460" y="2350383"/>
            <a:ext cx="1655293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 err="1"/>
              <a:t>IDVec</a:t>
            </a:r>
            <a:endParaRPr lang="en-US" sz="4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E42317-CE44-162A-F575-FF451DE69DBE}"/>
              </a:ext>
            </a:extLst>
          </p:cNvPr>
          <p:cNvCxnSpPr>
            <a:cxnSpLocks/>
            <a:stCxn id="24" idx="2"/>
            <a:endCxn id="19" idx="0"/>
          </p:cNvCxnSpPr>
          <p:nvPr/>
        </p:nvCxnSpPr>
        <p:spPr>
          <a:xfrm flipH="1">
            <a:off x="5465122" y="3119824"/>
            <a:ext cx="1244985" cy="902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F94E950-ADD0-F4A4-CB07-18979D525582}"/>
              </a:ext>
            </a:extLst>
          </p:cNvPr>
          <p:cNvSpPr txBox="1"/>
          <p:nvPr/>
        </p:nvSpPr>
        <p:spPr>
          <a:xfrm>
            <a:off x="3563888" y="1484784"/>
            <a:ext cx="1279671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 err="1"/>
              <a:t>Decl</a:t>
            </a:r>
            <a:endParaRPr lang="en-US" sz="44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D02EC97-7FFF-E462-7641-39099D0F0CAD}"/>
              </a:ext>
            </a:extLst>
          </p:cNvPr>
          <p:cNvCxnSpPr>
            <a:cxnSpLocks/>
            <a:stCxn id="28" idx="1"/>
            <a:endCxn id="18" idx="0"/>
          </p:cNvCxnSpPr>
          <p:nvPr/>
        </p:nvCxnSpPr>
        <p:spPr>
          <a:xfrm flipH="1">
            <a:off x="2536962" y="1869505"/>
            <a:ext cx="1026926" cy="592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6EE6743-7358-8BF6-2AB7-BC347469E4E0}"/>
              </a:ext>
            </a:extLst>
          </p:cNvPr>
          <p:cNvCxnSpPr>
            <a:cxnSpLocks/>
            <a:stCxn id="28" idx="3"/>
            <a:endCxn id="24" idx="0"/>
          </p:cNvCxnSpPr>
          <p:nvPr/>
        </p:nvCxnSpPr>
        <p:spPr>
          <a:xfrm>
            <a:off x="4843559" y="1869505"/>
            <a:ext cx="1866548" cy="48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8140A1F-52FD-7F95-B10C-6859323B46AC}"/>
              </a:ext>
            </a:extLst>
          </p:cNvPr>
          <p:cNvSpPr txBox="1"/>
          <p:nvPr/>
        </p:nvSpPr>
        <p:spPr>
          <a:xfrm>
            <a:off x="7647232" y="766748"/>
            <a:ext cx="1214438" cy="4000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Syntactic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978091-983B-BE05-CE4F-99CF9618F27A}"/>
              </a:ext>
            </a:extLst>
          </p:cNvPr>
          <p:cNvSpPr txBox="1"/>
          <p:nvPr/>
        </p:nvSpPr>
        <p:spPr>
          <a:xfrm>
            <a:off x="7676421" y="260648"/>
            <a:ext cx="1357313" cy="4000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Semantic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4AB23F-626D-BD4A-4D7E-D70BB5DFE14D}"/>
              </a:ext>
            </a:extLst>
          </p:cNvPr>
          <p:cNvSpPr txBox="1"/>
          <p:nvPr/>
        </p:nvSpPr>
        <p:spPr>
          <a:xfrm>
            <a:off x="295268" y="2661562"/>
            <a:ext cx="118423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type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b="1" dirty="0">
                <a:solidFill>
                  <a:srgbClr val="FF0000"/>
                </a:solidFill>
              </a:rPr>
              <a:t>“int”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F84110-3EF6-68B5-FC2B-72D113EAF868}"/>
              </a:ext>
            </a:extLst>
          </p:cNvPr>
          <p:cNvSpPr txBox="1"/>
          <p:nvPr/>
        </p:nvSpPr>
        <p:spPr>
          <a:xfrm>
            <a:off x="4911865" y="4887635"/>
            <a:ext cx="1051891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name=‘a’</a:t>
            </a:r>
          </a:p>
          <a:p>
            <a:r>
              <a:rPr lang="en-US" dirty="0"/>
              <a:t>type=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41920D-6811-CC35-B60F-6D6C18C37C38}"/>
              </a:ext>
            </a:extLst>
          </p:cNvPr>
          <p:cNvSpPr txBox="1"/>
          <p:nvPr/>
        </p:nvSpPr>
        <p:spPr>
          <a:xfrm>
            <a:off x="7676164" y="2411938"/>
            <a:ext cx="71846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type=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304EF00-0AFB-1C34-ACA1-E302865959BD}"/>
              </a:ext>
            </a:extLst>
          </p:cNvPr>
          <p:cNvCxnSpPr>
            <a:cxnSpLocks/>
            <a:stCxn id="24" idx="2"/>
            <a:endCxn id="60" idx="0"/>
          </p:cNvCxnSpPr>
          <p:nvPr/>
        </p:nvCxnSpPr>
        <p:spPr>
          <a:xfrm flipH="1">
            <a:off x="6703956" y="3119824"/>
            <a:ext cx="6151" cy="902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447137C-047F-67D5-2333-FE83D549EFA5}"/>
              </a:ext>
            </a:extLst>
          </p:cNvPr>
          <p:cNvCxnSpPr>
            <a:cxnSpLocks/>
            <a:stCxn id="24" idx="2"/>
            <a:endCxn id="62" idx="0"/>
          </p:cNvCxnSpPr>
          <p:nvPr/>
        </p:nvCxnSpPr>
        <p:spPr>
          <a:xfrm>
            <a:off x="6710107" y="3119824"/>
            <a:ext cx="1254847" cy="9027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B9CAE35-FCA4-4444-A9D8-9418364488E3}"/>
              </a:ext>
            </a:extLst>
          </p:cNvPr>
          <p:cNvSpPr txBox="1"/>
          <p:nvPr/>
        </p:nvSpPr>
        <p:spPr>
          <a:xfrm>
            <a:off x="6164206" y="4022594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5515A7-4868-F66A-56CA-B56E8D2889C8}"/>
              </a:ext>
            </a:extLst>
          </p:cNvPr>
          <p:cNvSpPr txBox="1"/>
          <p:nvPr/>
        </p:nvSpPr>
        <p:spPr>
          <a:xfrm>
            <a:off x="7425204" y="4022593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70A6C-CF32-6AA4-4E80-AEC92DB94D75}"/>
              </a:ext>
            </a:extLst>
          </p:cNvPr>
          <p:cNvSpPr txBox="1"/>
          <p:nvPr/>
        </p:nvSpPr>
        <p:spPr>
          <a:xfrm>
            <a:off x="6194105" y="4887634"/>
            <a:ext cx="106311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name=‘b’</a:t>
            </a:r>
          </a:p>
          <a:p>
            <a:r>
              <a:rPr lang="en-US" dirty="0"/>
              <a:t>type=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5EF807-B5F9-98C4-0CDD-A2B6BCC4B672}"/>
              </a:ext>
            </a:extLst>
          </p:cNvPr>
          <p:cNvSpPr txBox="1"/>
          <p:nvPr/>
        </p:nvSpPr>
        <p:spPr>
          <a:xfrm>
            <a:off x="7476345" y="4887635"/>
            <a:ext cx="1028358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name=‘c’</a:t>
            </a:r>
          </a:p>
          <a:p>
            <a:r>
              <a:rPr lang="en-US" dirty="0"/>
              <a:t>type=</a:t>
            </a:r>
          </a:p>
        </p:txBody>
      </p:sp>
      <p:sp>
        <p:nvSpPr>
          <p:cNvPr id="2" name="Left Arrow 52">
            <a:extLst>
              <a:ext uri="{FF2B5EF4-FFF2-40B4-BE49-F238E27FC236}">
                <a16:creationId xmlns:a16="http://schemas.microsoft.com/office/drawing/2014/main" id="{DB44D202-FB89-AD1B-F9B7-46C972A46CE0}"/>
              </a:ext>
            </a:extLst>
          </p:cNvPr>
          <p:cNvSpPr/>
          <p:nvPr/>
        </p:nvSpPr>
        <p:spPr>
          <a:xfrm rot="9016081">
            <a:off x="2457594" y="1898675"/>
            <a:ext cx="932917" cy="148939"/>
          </a:xfrm>
          <a:prstGeom prst="leftArrow">
            <a:avLst>
              <a:gd name="adj1" fmla="val 50000"/>
              <a:gd name="adj2" fmla="val 89111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66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2A764-2E60-8B39-B906-89B5A5BA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92FB008-CA2E-F56D-F9C3-61497294220F}"/>
              </a:ext>
            </a:extLst>
          </p:cNvPr>
          <p:cNvSpPr txBox="1"/>
          <p:nvPr/>
        </p:nvSpPr>
        <p:spPr>
          <a:xfrm>
            <a:off x="1847192" y="2461508"/>
            <a:ext cx="137953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Type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5C272-524B-5B18-498E-A576FA6DDC2F}"/>
              </a:ext>
            </a:extLst>
          </p:cNvPr>
          <p:cNvSpPr txBox="1"/>
          <p:nvPr/>
        </p:nvSpPr>
        <p:spPr>
          <a:xfrm>
            <a:off x="4925372" y="4022594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B6C3BA-8560-88DD-25E5-0C21B5784837}"/>
              </a:ext>
            </a:extLst>
          </p:cNvPr>
          <p:cNvSpPr txBox="1"/>
          <p:nvPr/>
        </p:nvSpPr>
        <p:spPr>
          <a:xfrm>
            <a:off x="5882460" y="2350383"/>
            <a:ext cx="1655293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 err="1"/>
              <a:t>IDVec</a:t>
            </a:r>
            <a:endParaRPr lang="en-US" sz="4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8E77BCC-F64F-1CD6-3D7E-EBEB52F137B4}"/>
              </a:ext>
            </a:extLst>
          </p:cNvPr>
          <p:cNvCxnSpPr>
            <a:cxnSpLocks/>
            <a:stCxn id="24" idx="2"/>
            <a:endCxn id="19" idx="0"/>
          </p:cNvCxnSpPr>
          <p:nvPr/>
        </p:nvCxnSpPr>
        <p:spPr>
          <a:xfrm flipH="1">
            <a:off x="5465122" y="3119824"/>
            <a:ext cx="1244985" cy="902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E9273B5-75DD-FB56-F583-DBCB36067733}"/>
              </a:ext>
            </a:extLst>
          </p:cNvPr>
          <p:cNvSpPr txBox="1"/>
          <p:nvPr/>
        </p:nvSpPr>
        <p:spPr>
          <a:xfrm>
            <a:off x="3563888" y="1484784"/>
            <a:ext cx="1279671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 err="1"/>
              <a:t>Decl</a:t>
            </a:r>
            <a:endParaRPr lang="en-US" sz="44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572413A-B730-CAE7-C4F3-9B2DCF48D228}"/>
              </a:ext>
            </a:extLst>
          </p:cNvPr>
          <p:cNvCxnSpPr>
            <a:cxnSpLocks/>
            <a:stCxn id="28" idx="1"/>
            <a:endCxn id="18" idx="0"/>
          </p:cNvCxnSpPr>
          <p:nvPr/>
        </p:nvCxnSpPr>
        <p:spPr>
          <a:xfrm flipH="1">
            <a:off x="2536962" y="1869505"/>
            <a:ext cx="1026926" cy="592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72718E3-E929-BE0B-E380-DB556D513626}"/>
              </a:ext>
            </a:extLst>
          </p:cNvPr>
          <p:cNvCxnSpPr>
            <a:cxnSpLocks/>
            <a:stCxn id="28" idx="3"/>
            <a:endCxn id="24" idx="0"/>
          </p:cNvCxnSpPr>
          <p:nvPr/>
        </p:nvCxnSpPr>
        <p:spPr>
          <a:xfrm>
            <a:off x="4843559" y="1869505"/>
            <a:ext cx="1866548" cy="48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94CB87B-D2E6-DAE8-EDCE-282B91BA45C3}"/>
              </a:ext>
            </a:extLst>
          </p:cNvPr>
          <p:cNvSpPr txBox="1"/>
          <p:nvPr/>
        </p:nvSpPr>
        <p:spPr>
          <a:xfrm>
            <a:off x="7647232" y="766748"/>
            <a:ext cx="1214438" cy="4000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Syntactic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DBB99C-2BD1-DC92-D5D4-C701CFFB8687}"/>
              </a:ext>
            </a:extLst>
          </p:cNvPr>
          <p:cNvSpPr txBox="1"/>
          <p:nvPr/>
        </p:nvSpPr>
        <p:spPr>
          <a:xfrm>
            <a:off x="7676421" y="260648"/>
            <a:ext cx="1357313" cy="4000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Semantic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3F6EE7-FC72-9658-70D4-89F121FB13ED}"/>
              </a:ext>
            </a:extLst>
          </p:cNvPr>
          <p:cNvSpPr txBox="1"/>
          <p:nvPr/>
        </p:nvSpPr>
        <p:spPr>
          <a:xfrm>
            <a:off x="295268" y="2661562"/>
            <a:ext cx="1184235" cy="369332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type</a:t>
            </a:r>
            <a:r>
              <a:rPr lang="en-US" dirty="0">
                <a:solidFill>
                  <a:schemeClr val="tx1"/>
                </a:solidFill>
              </a:rPr>
              <a:t>=“int”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AB1C6B-472A-2886-9F92-A17B30D20717}"/>
              </a:ext>
            </a:extLst>
          </p:cNvPr>
          <p:cNvSpPr txBox="1"/>
          <p:nvPr/>
        </p:nvSpPr>
        <p:spPr>
          <a:xfrm>
            <a:off x="4911865" y="4887635"/>
            <a:ext cx="1051891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name=‘a’</a:t>
            </a:r>
          </a:p>
          <a:p>
            <a:r>
              <a:rPr lang="en-US" dirty="0"/>
              <a:t>type=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390B5A-BB60-1454-4980-7F8748B28453}"/>
              </a:ext>
            </a:extLst>
          </p:cNvPr>
          <p:cNvSpPr txBox="1"/>
          <p:nvPr/>
        </p:nvSpPr>
        <p:spPr>
          <a:xfrm>
            <a:off x="7676164" y="2411938"/>
            <a:ext cx="118423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type=</a:t>
            </a:r>
            <a:r>
              <a:rPr lang="en-US" b="1" dirty="0">
                <a:solidFill>
                  <a:srgbClr val="FF0000"/>
                </a:solidFill>
              </a:rPr>
              <a:t>“int”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8CC5C17-AFE2-BA2B-02BD-28091596F143}"/>
              </a:ext>
            </a:extLst>
          </p:cNvPr>
          <p:cNvCxnSpPr>
            <a:cxnSpLocks/>
            <a:stCxn id="24" idx="2"/>
            <a:endCxn id="60" idx="0"/>
          </p:cNvCxnSpPr>
          <p:nvPr/>
        </p:nvCxnSpPr>
        <p:spPr>
          <a:xfrm flipH="1">
            <a:off x="6703956" y="3119824"/>
            <a:ext cx="6151" cy="902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9A39DCD-E4B9-9906-1D19-487D489BC9DB}"/>
              </a:ext>
            </a:extLst>
          </p:cNvPr>
          <p:cNvCxnSpPr>
            <a:cxnSpLocks/>
            <a:stCxn id="24" idx="2"/>
            <a:endCxn id="62" idx="0"/>
          </p:cNvCxnSpPr>
          <p:nvPr/>
        </p:nvCxnSpPr>
        <p:spPr>
          <a:xfrm>
            <a:off x="6710107" y="3119824"/>
            <a:ext cx="1254847" cy="9027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2C5DA13-5CFB-540E-DA32-922F2C29CECE}"/>
              </a:ext>
            </a:extLst>
          </p:cNvPr>
          <p:cNvSpPr txBox="1"/>
          <p:nvPr/>
        </p:nvSpPr>
        <p:spPr>
          <a:xfrm>
            <a:off x="6164206" y="4022594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BD407B-CC15-BBE2-395C-35CEAB0D4BDA}"/>
              </a:ext>
            </a:extLst>
          </p:cNvPr>
          <p:cNvSpPr txBox="1"/>
          <p:nvPr/>
        </p:nvSpPr>
        <p:spPr>
          <a:xfrm>
            <a:off x="7425204" y="4022593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E9342F-987D-401C-9B96-12A7F7FF2E12}"/>
              </a:ext>
            </a:extLst>
          </p:cNvPr>
          <p:cNvSpPr txBox="1"/>
          <p:nvPr/>
        </p:nvSpPr>
        <p:spPr>
          <a:xfrm>
            <a:off x="6194105" y="4887634"/>
            <a:ext cx="1063112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name=‘b’</a:t>
            </a:r>
          </a:p>
          <a:p>
            <a:r>
              <a:rPr lang="en-US" dirty="0"/>
              <a:t>type=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FC1059-A339-D44E-5F92-E273E12F3E2F}"/>
              </a:ext>
            </a:extLst>
          </p:cNvPr>
          <p:cNvSpPr txBox="1"/>
          <p:nvPr/>
        </p:nvSpPr>
        <p:spPr>
          <a:xfrm>
            <a:off x="7476345" y="4887635"/>
            <a:ext cx="1028358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name=‘c’</a:t>
            </a:r>
          </a:p>
          <a:p>
            <a:r>
              <a:rPr lang="en-US" dirty="0"/>
              <a:t>type=</a:t>
            </a:r>
          </a:p>
        </p:txBody>
      </p:sp>
      <p:sp>
        <p:nvSpPr>
          <p:cNvPr id="3" name="Left Arrow 52">
            <a:extLst>
              <a:ext uri="{FF2B5EF4-FFF2-40B4-BE49-F238E27FC236}">
                <a16:creationId xmlns:a16="http://schemas.microsoft.com/office/drawing/2014/main" id="{401D92A7-F987-1D02-965A-D1009104B75A}"/>
              </a:ext>
            </a:extLst>
          </p:cNvPr>
          <p:cNvSpPr/>
          <p:nvPr/>
        </p:nvSpPr>
        <p:spPr>
          <a:xfrm rot="11720876">
            <a:off x="5208109" y="1841882"/>
            <a:ext cx="1435674" cy="226382"/>
          </a:xfrm>
          <a:prstGeom prst="leftArrow">
            <a:avLst>
              <a:gd name="adj1" fmla="val 50000"/>
              <a:gd name="adj2" fmla="val 89111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52">
            <a:extLst>
              <a:ext uri="{FF2B5EF4-FFF2-40B4-BE49-F238E27FC236}">
                <a16:creationId xmlns:a16="http://schemas.microsoft.com/office/drawing/2014/main" id="{4B5962ED-9899-8FE3-B2BB-2ED5A6DC9FEA}"/>
              </a:ext>
            </a:extLst>
          </p:cNvPr>
          <p:cNvSpPr/>
          <p:nvPr/>
        </p:nvSpPr>
        <p:spPr>
          <a:xfrm rot="9016081">
            <a:off x="2457594" y="1898675"/>
            <a:ext cx="932917" cy="148939"/>
          </a:xfrm>
          <a:prstGeom prst="leftArrow">
            <a:avLst>
              <a:gd name="adj1" fmla="val 50000"/>
              <a:gd name="adj2" fmla="val 89111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89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9FCC-18B2-3C39-AB7D-04192F424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BEEEF5B-8A42-440C-832D-C5CAC87DDE8D}"/>
              </a:ext>
            </a:extLst>
          </p:cNvPr>
          <p:cNvSpPr txBox="1"/>
          <p:nvPr/>
        </p:nvSpPr>
        <p:spPr>
          <a:xfrm>
            <a:off x="1847192" y="2461508"/>
            <a:ext cx="137953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Type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0F22C7-6372-5923-4E34-3B778FEA3663}"/>
              </a:ext>
            </a:extLst>
          </p:cNvPr>
          <p:cNvSpPr txBox="1"/>
          <p:nvPr/>
        </p:nvSpPr>
        <p:spPr>
          <a:xfrm>
            <a:off x="4925372" y="4022594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083E86-0279-CA3F-AFAE-0C7C8455B218}"/>
              </a:ext>
            </a:extLst>
          </p:cNvPr>
          <p:cNvSpPr txBox="1"/>
          <p:nvPr/>
        </p:nvSpPr>
        <p:spPr>
          <a:xfrm>
            <a:off x="5882460" y="2350383"/>
            <a:ext cx="1655293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 err="1"/>
              <a:t>IDVec</a:t>
            </a:r>
            <a:endParaRPr lang="en-US" sz="4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09755DB-DDDD-C38D-FC17-0CCBC05DF64A}"/>
              </a:ext>
            </a:extLst>
          </p:cNvPr>
          <p:cNvCxnSpPr>
            <a:cxnSpLocks/>
            <a:stCxn id="24" idx="2"/>
            <a:endCxn id="19" idx="0"/>
          </p:cNvCxnSpPr>
          <p:nvPr/>
        </p:nvCxnSpPr>
        <p:spPr>
          <a:xfrm flipH="1">
            <a:off x="5465122" y="3119824"/>
            <a:ext cx="1244985" cy="902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30137CA-C9EC-E836-194D-C7616AA6D21B}"/>
              </a:ext>
            </a:extLst>
          </p:cNvPr>
          <p:cNvSpPr txBox="1"/>
          <p:nvPr/>
        </p:nvSpPr>
        <p:spPr>
          <a:xfrm>
            <a:off x="3563888" y="1484784"/>
            <a:ext cx="1279671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 err="1"/>
              <a:t>Decl</a:t>
            </a:r>
            <a:endParaRPr lang="en-US" sz="44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D6A02E4-169F-9467-8C6A-4C15ED9846B5}"/>
              </a:ext>
            </a:extLst>
          </p:cNvPr>
          <p:cNvCxnSpPr>
            <a:cxnSpLocks/>
            <a:stCxn id="28" idx="1"/>
            <a:endCxn id="18" idx="0"/>
          </p:cNvCxnSpPr>
          <p:nvPr/>
        </p:nvCxnSpPr>
        <p:spPr>
          <a:xfrm flipH="1">
            <a:off x="2536962" y="1869505"/>
            <a:ext cx="1026926" cy="592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CA8607E-2BF6-E8DC-C780-4B5D4F63DD1A}"/>
              </a:ext>
            </a:extLst>
          </p:cNvPr>
          <p:cNvCxnSpPr>
            <a:cxnSpLocks/>
            <a:stCxn id="28" idx="3"/>
            <a:endCxn id="24" idx="0"/>
          </p:cNvCxnSpPr>
          <p:nvPr/>
        </p:nvCxnSpPr>
        <p:spPr>
          <a:xfrm>
            <a:off x="4843559" y="1869505"/>
            <a:ext cx="1866548" cy="480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52FD7AB-B8E5-3797-F440-E18CB95DEBE7}"/>
              </a:ext>
            </a:extLst>
          </p:cNvPr>
          <p:cNvSpPr txBox="1"/>
          <p:nvPr/>
        </p:nvSpPr>
        <p:spPr>
          <a:xfrm>
            <a:off x="7647232" y="766748"/>
            <a:ext cx="1214438" cy="4000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Syntactic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848901-E5E4-56A7-8BAD-C56CAEB38C72}"/>
              </a:ext>
            </a:extLst>
          </p:cNvPr>
          <p:cNvSpPr txBox="1"/>
          <p:nvPr/>
        </p:nvSpPr>
        <p:spPr>
          <a:xfrm>
            <a:off x="7676421" y="260648"/>
            <a:ext cx="1357313" cy="4000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/>
              <a:t>Semantic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2BCAB0-794A-6F04-3971-49EBA5188418}"/>
              </a:ext>
            </a:extLst>
          </p:cNvPr>
          <p:cNvSpPr txBox="1"/>
          <p:nvPr/>
        </p:nvSpPr>
        <p:spPr>
          <a:xfrm>
            <a:off x="295268" y="2661562"/>
            <a:ext cx="118423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type</a:t>
            </a:r>
            <a:r>
              <a:rPr lang="en-US" dirty="0">
                <a:solidFill>
                  <a:schemeClr val="tx1"/>
                </a:solidFill>
              </a:rPr>
              <a:t>=“int”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EC8744-82C3-0C6C-03D6-0D79FA982DFF}"/>
              </a:ext>
            </a:extLst>
          </p:cNvPr>
          <p:cNvSpPr txBox="1"/>
          <p:nvPr/>
        </p:nvSpPr>
        <p:spPr>
          <a:xfrm>
            <a:off x="4911865" y="4887635"/>
            <a:ext cx="1178015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name=‘a’</a:t>
            </a:r>
          </a:p>
          <a:p>
            <a:r>
              <a:rPr lang="en-US" dirty="0"/>
              <a:t>type=</a:t>
            </a:r>
            <a:r>
              <a:rPr lang="en-US" b="1" dirty="0">
                <a:solidFill>
                  <a:srgbClr val="FF0000"/>
                </a:solidFill>
              </a:rPr>
              <a:t>“int”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FDEA0C-DDEA-CF76-2018-EDA5C9FCD8A0}"/>
              </a:ext>
            </a:extLst>
          </p:cNvPr>
          <p:cNvSpPr txBox="1"/>
          <p:nvPr/>
        </p:nvSpPr>
        <p:spPr>
          <a:xfrm>
            <a:off x="7676164" y="2411938"/>
            <a:ext cx="1168397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type</a:t>
            </a:r>
            <a:r>
              <a:rPr lang="en-US" dirty="0">
                <a:solidFill>
                  <a:schemeClr val="tx1"/>
                </a:solidFill>
              </a:rPr>
              <a:t>=“int”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447FC04-7597-5EEE-3702-59AB181D1857}"/>
              </a:ext>
            </a:extLst>
          </p:cNvPr>
          <p:cNvCxnSpPr>
            <a:cxnSpLocks/>
            <a:stCxn id="24" idx="2"/>
            <a:endCxn id="60" idx="0"/>
          </p:cNvCxnSpPr>
          <p:nvPr/>
        </p:nvCxnSpPr>
        <p:spPr>
          <a:xfrm flipH="1">
            <a:off x="6703956" y="3119824"/>
            <a:ext cx="6151" cy="902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90F16CB-5FFB-CF83-10F4-6C88277DE11A}"/>
              </a:ext>
            </a:extLst>
          </p:cNvPr>
          <p:cNvCxnSpPr>
            <a:cxnSpLocks/>
            <a:stCxn id="24" idx="2"/>
            <a:endCxn id="62" idx="0"/>
          </p:cNvCxnSpPr>
          <p:nvPr/>
        </p:nvCxnSpPr>
        <p:spPr>
          <a:xfrm>
            <a:off x="6710107" y="3119824"/>
            <a:ext cx="1254847" cy="9027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AACCCF1-5C78-71DA-A2DC-B5AB99B10869}"/>
              </a:ext>
            </a:extLst>
          </p:cNvPr>
          <p:cNvSpPr txBox="1"/>
          <p:nvPr/>
        </p:nvSpPr>
        <p:spPr>
          <a:xfrm>
            <a:off x="6164206" y="4022594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93D93F-E618-7AD7-2324-4ECDEC3E0AC1}"/>
              </a:ext>
            </a:extLst>
          </p:cNvPr>
          <p:cNvSpPr txBox="1"/>
          <p:nvPr/>
        </p:nvSpPr>
        <p:spPr>
          <a:xfrm>
            <a:off x="7425204" y="4022593"/>
            <a:ext cx="1079499" cy="76944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dirty="0"/>
              <a:t>Var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289A01-18CB-C5B5-0851-C7D48EF29231}"/>
              </a:ext>
            </a:extLst>
          </p:cNvPr>
          <p:cNvSpPr txBox="1"/>
          <p:nvPr/>
        </p:nvSpPr>
        <p:spPr>
          <a:xfrm>
            <a:off x="6194105" y="4887634"/>
            <a:ext cx="1178015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name=‘b’</a:t>
            </a:r>
          </a:p>
          <a:p>
            <a:r>
              <a:rPr lang="en-US" dirty="0"/>
              <a:t>type=</a:t>
            </a:r>
            <a:r>
              <a:rPr lang="en-US" b="1" dirty="0">
                <a:solidFill>
                  <a:srgbClr val="FF0000"/>
                </a:solidFill>
              </a:rPr>
              <a:t>“int”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C76847-967C-D399-AB83-F1FBA4E943C4}"/>
              </a:ext>
            </a:extLst>
          </p:cNvPr>
          <p:cNvSpPr txBox="1"/>
          <p:nvPr/>
        </p:nvSpPr>
        <p:spPr>
          <a:xfrm>
            <a:off x="7476345" y="4887635"/>
            <a:ext cx="1178015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name=‘c’</a:t>
            </a:r>
          </a:p>
          <a:p>
            <a:r>
              <a:rPr lang="en-US" dirty="0"/>
              <a:t>type=</a:t>
            </a:r>
            <a:r>
              <a:rPr lang="en-US" b="1" dirty="0">
                <a:solidFill>
                  <a:srgbClr val="FF0000"/>
                </a:solidFill>
              </a:rPr>
              <a:t>“int”</a:t>
            </a:r>
            <a:endParaRPr lang="en-US" dirty="0"/>
          </a:p>
        </p:txBody>
      </p:sp>
      <p:sp>
        <p:nvSpPr>
          <p:cNvPr id="2" name="Left Arrow 52">
            <a:extLst>
              <a:ext uri="{FF2B5EF4-FFF2-40B4-BE49-F238E27FC236}">
                <a16:creationId xmlns:a16="http://schemas.microsoft.com/office/drawing/2014/main" id="{96F7D2CF-DA8D-B7B9-5B67-F6F69FC6E214}"/>
              </a:ext>
            </a:extLst>
          </p:cNvPr>
          <p:cNvSpPr/>
          <p:nvPr/>
        </p:nvSpPr>
        <p:spPr>
          <a:xfrm rot="9016081">
            <a:off x="2457594" y="1898675"/>
            <a:ext cx="932917" cy="148939"/>
          </a:xfrm>
          <a:prstGeom prst="leftArrow">
            <a:avLst>
              <a:gd name="adj1" fmla="val 50000"/>
              <a:gd name="adj2" fmla="val 89111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eft Arrow 52">
            <a:extLst>
              <a:ext uri="{FF2B5EF4-FFF2-40B4-BE49-F238E27FC236}">
                <a16:creationId xmlns:a16="http://schemas.microsoft.com/office/drawing/2014/main" id="{6F8ACD77-E856-FC73-41D8-B236DD00965E}"/>
              </a:ext>
            </a:extLst>
          </p:cNvPr>
          <p:cNvSpPr/>
          <p:nvPr/>
        </p:nvSpPr>
        <p:spPr>
          <a:xfrm rot="11720876">
            <a:off x="5208109" y="1841882"/>
            <a:ext cx="1435674" cy="226382"/>
          </a:xfrm>
          <a:prstGeom prst="leftArrow">
            <a:avLst>
              <a:gd name="adj1" fmla="val 50000"/>
              <a:gd name="adj2" fmla="val 89111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Arrow 47">
            <a:extLst>
              <a:ext uri="{FF2B5EF4-FFF2-40B4-BE49-F238E27FC236}">
                <a16:creationId xmlns:a16="http://schemas.microsoft.com/office/drawing/2014/main" id="{04DDC7D8-94BD-9507-1B1E-4496E9DC8787}"/>
              </a:ext>
            </a:extLst>
          </p:cNvPr>
          <p:cNvSpPr/>
          <p:nvPr/>
        </p:nvSpPr>
        <p:spPr>
          <a:xfrm rot="16200000">
            <a:off x="6310447" y="3525676"/>
            <a:ext cx="457219" cy="263867"/>
          </a:xfrm>
          <a:prstGeom prst="leftArrow">
            <a:avLst>
              <a:gd name="adj1" fmla="val 50000"/>
              <a:gd name="adj2" fmla="val 89111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Arrow 47">
            <a:extLst>
              <a:ext uri="{FF2B5EF4-FFF2-40B4-BE49-F238E27FC236}">
                <a16:creationId xmlns:a16="http://schemas.microsoft.com/office/drawing/2014/main" id="{F1D6E603-4170-779A-75F8-D90504483A9E}"/>
              </a:ext>
            </a:extLst>
          </p:cNvPr>
          <p:cNvSpPr/>
          <p:nvPr/>
        </p:nvSpPr>
        <p:spPr>
          <a:xfrm rot="19381848">
            <a:off x="5263643" y="3458512"/>
            <a:ext cx="909636" cy="273910"/>
          </a:xfrm>
          <a:prstGeom prst="leftArrow">
            <a:avLst>
              <a:gd name="adj1" fmla="val 50000"/>
              <a:gd name="adj2" fmla="val 89111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47">
            <a:extLst>
              <a:ext uri="{FF2B5EF4-FFF2-40B4-BE49-F238E27FC236}">
                <a16:creationId xmlns:a16="http://schemas.microsoft.com/office/drawing/2014/main" id="{B97E5DF2-CE07-2ED0-CE6F-82E0C97C9F9A}"/>
              </a:ext>
            </a:extLst>
          </p:cNvPr>
          <p:cNvSpPr/>
          <p:nvPr/>
        </p:nvSpPr>
        <p:spPr>
          <a:xfrm rot="13177459">
            <a:off x="7193585" y="3434254"/>
            <a:ext cx="909636" cy="273910"/>
          </a:xfrm>
          <a:prstGeom prst="leftArrow">
            <a:avLst>
              <a:gd name="adj1" fmla="val 50000"/>
              <a:gd name="adj2" fmla="val 89111"/>
            </a:avLst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815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B9D9F-F32A-DA76-775A-DEC1C9A9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AF4F-3886-6421-2F27-EE466A55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פתרון- פונקציות </a:t>
            </a:r>
            <a:r>
              <a:rPr lang="en-US" dirty="0"/>
              <a:t>visitor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B8DC9-271C-1192-E10A-7B6CFECE9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en-US" dirty="0"/>
              <a:t>Visit(</a:t>
            </a:r>
            <a:r>
              <a:rPr lang="en-US" dirty="0" err="1"/>
              <a:t>Decl</a:t>
            </a:r>
            <a:r>
              <a:rPr lang="en-US" dirty="0"/>
              <a:t> node){</a:t>
            </a:r>
          </a:p>
          <a:p>
            <a:pPr marL="400050" lvl="1" indent="0">
              <a:buNone/>
            </a:pPr>
            <a:r>
              <a:rPr lang="en-US" dirty="0"/>
              <a:t>     visit(</a:t>
            </a:r>
            <a:r>
              <a:rPr lang="en-US" dirty="0" err="1"/>
              <a:t>node.Type</a:t>
            </a:r>
            <a:r>
              <a:rPr lang="en-US" dirty="0"/>
              <a:t>);</a:t>
            </a:r>
          </a:p>
          <a:p>
            <a:pPr marL="857250" lvl="2" indent="0">
              <a:buNone/>
            </a:pPr>
            <a:r>
              <a:rPr lang="en-US" sz="2800" dirty="0" err="1"/>
              <a:t>node.IDVec.type</a:t>
            </a:r>
            <a:r>
              <a:rPr lang="en-US" sz="2800" dirty="0"/>
              <a:t> = </a:t>
            </a:r>
            <a:r>
              <a:rPr lang="en-US" sz="2800" dirty="0" err="1"/>
              <a:t>node.Type.type</a:t>
            </a:r>
            <a:r>
              <a:rPr lang="en-US" sz="2800" dirty="0"/>
              <a:t>;</a:t>
            </a:r>
          </a:p>
          <a:p>
            <a:pPr marL="857250" lvl="2" indent="0">
              <a:buNone/>
            </a:pPr>
            <a:r>
              <a:rPr lang="en-US" sz="2800" dirty="0"/>
              <a:t>for(auto id: </a:t>
            </a:r>
            <a:r>
              <a:rPr lang="en-US" sz="2800" dirty="0" err="1"/>
              <a:t>node.IDVec.ids</a:t>
            </a:r>
            <a:r>
              <a:rPr lang="en-US" sz="2800" dirty="0"/>
              <a:t>){</a:t>
            </a:r>
          </a:p>
          <a:p>
            <a:pPr marL="857250" lvl="2" indent="0">
              <a:buNone/>
            </a:pPr>
            <a:r>
              <a:rPr lang="en-US" sz="2800" dirty="0"/>
              <a:t>     </a:t>
            </a:r>
            <a:r>
              <a:rPr lang="en-US" sz="2800" dirty="0" err="1"/>
              <a:t>id.type</a:t>
            </a:r>
            <a:r>
              <a:rPr lang="en-US" sz="2800" dirty="0"/>
              <a:t> = </a:t>
            </a:r>
            <a:r>
              <a:rPr lang="en-US" sz="2800" dirty="0" err="1"/>
              <a:t>node.IDVec.type</a:t>
            </a:r>
            <a:r>
              <a:rPr lang="en-US" sz="2800" dirty="0"/>
              <a:t>;</a:t>
            </a:r>
          </a:p>
          <a:p>
            <a:pPr marL="857250" lvl="2" indent="0">
              <a:buNone/>
            </a:pPr>
            <a:r>
              <a:rPr lang="en-US" sz="2800" dirty="0"/>
              <a:t>	    visit(id);</a:t>
            </a:r>
          </a:p>
          <a:p>
            <a:pPr marL="857250" lvl="2" indent="0">
              <a:buNone/>
            </a:pPr>
            <a:r>
              <a:rPr lang="en-US" sz="2800" dirty="0"/>
              <a:t>}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C19C0-DEF3-21F0-503B-22EEEB0D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4102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E61A-3F4E-510C-DDC7-CC2B872D1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פתרון- פונקציות </a:t>
            </a:r>
            <a:r>
              <a:rPr lang="en-US" dirty="0"/>
              <a:t>visitor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850C9-B8D9-CD7D-CB2D-1CAED2EE8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en-US" dirty="0"/>
              <a:t>Visit(Type node){</a:t>
            </a:r>
          </a:p>
          <a:p>
            <a:pPr marL="0" indent="0">
              <a:buNone/>
            </a:pPr>
            <a:r>
              <a:rPr lang="en-US" dirty="0"/>
              <a:t>    	</a:t>
            </a:r>
            <a:r>
              <a:rPr lang="en-US" sz="2800" dirty="0"/>
              <a:t>/* </a:t>
            </a:r>
            <a:r>
              <a:rPr lang="en-US" sz="2800" dirty="0" err="1"/>
              <a:t>node.type</a:t>
            </a:r>
            <a:r>
              <a:rPr lang="en-US" sz="2800" dirty="0"/>
              <a:t> is already defined in the 	constructor 	    (when we made the node) so we don’t need to 	    do anything here.*/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00C36-42DF-154E-C68D-5488CA53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778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64E9-8AD7-8744-331B-B47CCD9C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C6C9-87D1-5C75-81AE-3F3EB845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פתרון- פונקציות </a:t>
            </a:r>
            <a:r>
              <a:rPr lang="en-US" dirty="0"/>
              <a:t>visitor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9BCFF-693B-6339-5B74-82C30A12C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en-US" dirty="0"/>
              <a:t>Visit(Var node){</a:t>
            </a:r>
          </a:p>
          <a:p>
            <a:pPr marL="914400" lvl="2" indent="0">
              <a:buNone/>
            </a:pPr>
            <a:r>
              <a:rPr lang="en-US" sz="2400" dirty="0"/>
              <a:t>//inserting the information into the symbol table: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/>
              <a:t>insert(</a:t>
            </a:r>
            <a:r>
              <a:rPr lang="en-US" sz="2800" dirty="0" err="1"/>
              <a:t>node.type</a:t>
            </a:r>
            <a:r>
              <a:rPr lang="en-US" sz="2800" dirty="0"/>
              <a:t>, node.name); </a:t>
            </a:r>
          </a:p>
          <a:p>
            <a:pPr marL="0" indent="0">
              <a:buNone/>
            </a:pPr>
            <a:r>
              <a:rPr lang="en-US" sz="2800" dirty="0"/>
              <a:t>     </a:t>
            </a: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3AA17-5A67-169D-FE87-546238F4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6582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23437-4DEF-25DE-F69A-38C0C026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D30C-3583-DB46-0B91-56EB3AD55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 dirty="0"/>
              <a:t>פתרון- פונקציות </a:t>
            </a:r>
            <a:r>
              <a:rPr lang="en-US" dirty="0"/>
              <a:t>visitor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9439-F0B1-DC0F-066A-E4ACAA87A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en-US" dirty="0"/>
              <a:t>Visit(</a:t>
            </a:r>
            <a:r>
              <a:rPr lang="en-US" dirty="0" err="1"/>
              <a:t>Decl</a:t>
            </a:r>
            <a:r>
              <a:rPr lang="en-US" dirty="0"/>
              <a:t> node){</a:t>
            </a:r>
            <a:r>
              <a:rPr lang="en-US" sz="2800" dirty="0"/>
              <a:t>visit(</a:t>
            </a:r>
            <a:r>
              <a:rPr lang="en-US" sz="2800" dirty="0" err="1"/>
              <a:t>node.Type</a:t>
            </a:r>
            <a:r>
              <a:rPr lang="en-US" sz="2800" dirty="0"/>
              <a:t>);</a:t>
            </a:r>
          </a:p>
          <a:p>
            <a:pPr marL="857250" lvl="2" indent="0">
              <a:buNone/>
            </a:pPr>
            <a:r>
              <a:rPr lang="en-US" sz="2800" dirty="0" err="1"/>
              <a:t>node.IDVec.type</a:t>
            </a:r>
            <a:r>
              <a:rPr lang="en-US" sz="2800" dirty="0"/>
              <a:t> = </a:t>
            </a:r>
            <a:r>
              <a:rPr lang="en-US" sz="2800" dirty="0" err="1"/>
              <a:t>node.Type.type</a:t>
            </a:r>
            <a:r>
              <a:rPr lang="en-US" sz="2800" dirty="0"/>
              <a:t>;</a:t>
            </a:r>
          </a:p>
          <a:p>
            <a:pPr marL="857250" lvl="2" indent="0">
              <a:buNone/>
            </a:pPr>
            <a:r>
              <a:rPr lang="en-US" sz="2800" dirty="0"/>
              <a:t>for(auto id: </a:t>
            </a:r>
            <a:r>
              <a:rPr lang="en-US" sz="2800" dirty="0" err="1"/>
              <a:t>node.IDVec.ids</a:t>
            </a:r>
            <a:r>
              <a:rPr lang="en-US" sz="2800" dirty="0"/>
              <a:t>){</a:t>
            </a:r>
          </a:p>
          <a:p>
            <a:pPr marL="857250" lvl="2" indent="0">
              <a:buNone/>
            </a:pPr>
            <a:r>
              <a:rPr lang="en-US" sz="2800" dirty="0"/>
              <a:t>     </a:t>
            </a:r>
            <a:r>
              <a:rPr lang="en-US" sz="2800" dirty="0" err="1"/>
              <a:t>id.type</a:t>
            </a:r>
            <a:r>
              <a:rPr lang="en-US" sz="2800" dirty="0"/>
              <a:t> = </a:t>
            </a:r>
            <a:r>
              <a:rPr lang="en-US" sz="2800" dirty="0" err="1"/>
              <a:t>node.IDVec.type</a:t>
            </a:r>
            <a:r>
              <a:rPr lang="en-US" sz="2800" dirty="0"/>
              <a:t>; visit(id);}</a:t>
            </a:r>
            <a:r>
              <a:rPr lang="en-US" sz="3200" dirty="0"/>
              <a:t>}</a:t>
            </a:r>
          </a:p>
          <a:p>
            <a:endParaRPr lang="en-US" dirty="0"/>
          </a:p>
          <a:p>
            <a:r>
              <a:rPr lang="en-US" dirty="0"/>
              <a:t>Visit(Type node){}</a:t>
            </a:r>
          </a:p>
          <a:p>
            <a:endParaRPr lang="en-US" dirty="0"/>
          </a:p>
          <a:p>
            <a:r>
              <a:rPr lang="en-US" dirty="0"/>
              <a:t>Visit(Var node){</a:t>
            </a:r>
            <a:r>
              <a:rPr lang="en-US" sz="2800" dirty="0"/>
              <a:t>insert(</a:t>
            </a:r>
            <a:r>
              <a:rPr lang="en-US" sz="2800" dirty="0" err="1"/>
              <a:t>node.type</a:t>
            </a:r>
            <a:r>
              <a:rPr lang="en-US" sz="2800" dirty="0"/>
              <a:t>, node.name);</a:t>
            </a: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0D94B-91AA-EC08-2A49-5293BF6D2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4A1B6C-F258-4E96-872A-C9884C64DF20}" type="slidenum">
              <a:rPr lang="he-IL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78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25814</TotalTime>
  <Words>2382</Words>
  <Application>Microsoft Office PowerPoint</Application>
  <PresentationFormat>On-screen Show (4:3)</PresentationFormat>
  <Paragraphs>561</Paragraphs>
  <Slides>41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Cambria Math</vt:lpstr>
      <vt:lpstr>Wingdings</vt:lpstr>
      <vt:lpstr>Office Theme</vt:lpstr>
      <vt:lpstr>ניתוח סמנטי</vt:lpstr>
      <vt:lpstr>תזכורת מהתרגולים הקודמים</vt:lpstr>
      <vt:lpstr>תזכורת מהתרגולים הקודמים</vt:lpstr>
      <vt:lpstr>תזכורת מהתרגולים הקודמים</vt:lpstr>
      <vt:lpstr>הגדרה מונחית תחביר - דוגמה</vt:lpstr>
      <vt:lpstr>עץ סינטקס עם תכונות (Annotated)</vt:lpstr>
      <vt:lpstr>סוגי תכונות סמנטיות</vt:lpstr>
      <vt:lpstr>תזכורת מההרצאה</vt:lpstr>
      <vt:lpstr>תכונות נוצרות - דוגמה</vt:lpstr>
      <vt:lpstr>תכונות נוצרות - דוגמה</vt:lpstr>
      <vt:lpstr>תזכורת מההרצאה</vt:lpstr>
      <vt:lpstr>תכונות נורשות - דוגמה</vt:lpstr>
      <vt:lpstr>שאלה ממבחן</vt:lpstr>
      <vt:lpstr>פתרון</vt:lpstr>
      <vt:lpstr>PowerPoint Presentation</vt:lpstr>
      <vt:lpstr>PowerPoint Presentation</vt:lpstr>
      <vt:lpstr>PowerPoint Presentation</vt:lpstr>
      <vt:lpstr>PowerPoint Presentation</vt:lpstr>
      <vt:lpstr>המשך השאלה</vt:lpstr>
      <vt:lpstr>פתרון</vt:lpstr>
      <vt:lpstr>המשך הפתרון</vt:lpstr>
      <vt:lpstr>ניתוח LR ובייזון: תזכורת</vt:lpstr>
      <vt:lpstr>בייזון: תזכורת</vt:lpstr>
      <vt:lpstr>שאלה</vt:lpstr>
      <vt:lpstr>פתרון - נגדיר מחלקות</vt:lpstr>
      <vt:lpstr>פתרון- חוקי bison</vt:lpstr>
      <vt:lpstr>פתרון- חוקי bison</vt:lpstr>
      <vt:lpstr>פתרון- חוקי bison</vt:lpstr>
      <vt:lpstr>פתרון- חוקי bison</vt:lpstr>
      <vt:lpstr>פתרון- חוקי bison</vt:lpstr>
      <vt:lpstr>פתרון- חוקי bison</vt:lpstr>
      <vt:lpstr>פתרון- חוקי bison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פתרון- פונקציות visitor</vt:lpstr>
      <vt:lpstr>פתרון- פונקציות visitor</vt:lpstr>
      <vt:lpstr>פתרון- פונקציות visitor</vt:lpstr>
      <vt:lpstr>פתרון- פונקציות visitor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</dc:title>
  <dc:creator>Guy Hefetz</dc:creator>
  <cp:lastModifiedBy>Guy Sudai</cp:lastModifiedBy>
  <cp:revision>950</cp:revision>
  <dcterms:created xsi:type="dcterms:W3CDTF">2009-05-11T12:07:58Z</dcterms:created>
  <dcterms:modified xsi:type="dcterms:W3CDTF">2025-05-05T13:04:01Z</dcterms:modified>
</cp:coreProperties>
</file>